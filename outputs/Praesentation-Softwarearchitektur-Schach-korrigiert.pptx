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Extenda 30 Deca" charset="1" panose="020B0003020200000002"/>
      <p:regular r:id="rId13"/>
    </p:embeddedFont>
    <p:embeddedFont>
      <p:font typeface="Neue Montreal Bold" charset="1" panose="00000400000000000000"/>
      <p:regular r:id="rId14"/>
    </p:embeddedFont>
    <p:embeddedFont>
      <p:font typeface="Neue Montreal Medium" charset="1" panose="000004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1209" y="552114"/>
            <a:ext cx="1888091" cy="595031"/>
            <a:chOff x="0" y="0"/>
            <a:chExt cx="497275" cy="156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275" cy="156716"/>
            </a:xfrm>
            <a:custGeom>
              <a:avLst/>
              <a:gdLst/>
              <a:ahLst/>
              <a:cxnLst/>
              <a:rect r="r" b="b" t="t" l="l"/>
              <a:pathLst>
                <a:path h="156716" w="497275">
                  <a:moveTo>
                    <a:pt x="78358" y="0"/>
                  </a:moveTo>
                  <a:lnTo>
                    <a:pt x="418917" y="0"/>
                  </a:lnTo>
                  <a:cubicBezTo>
                    <a:pt x="462193" y="0"/>
                    <a:pt x="497275" y="35082"/>
                    <a:pt x="497275" y="78358"/>
                  </a:cubicBezTo>
                  <a:lnTo>
                    <a:pt x="497275" y="78358"/>
                  </a:lnTo>
                  <a:cubicBezTo>
                    <a:pt x="497275" y="121634"/>
                    <a:pt x="462193" y="156716"/>
                    <a:pt x="418917" y="156716"/>
                  </a:cubicBezTo>
                  <a:lnTo>
                    <a:pt x="78358" y="156716"/>
                  </a:lnTo>
                  <a:cubicBezTo>
                    <a:pt x="35082" y="156716"/>
                    <a:pt x="0" y="121634"/>
                    <a:pt x="0" y="78358"/>
                  </a:cubicBezTo>
                  <a:lnTo>
                    <a:pt x="0" y="78358"/>
                  </a:lnTo>
                  <a:cubicBezTo>
                    <a:pt x="0" y="35082"/>
                    <a:pt x="35082" y="0"/>
                    <a:pt x="7835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7275" cy="204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6348558" y="1375803"/>
            <a:ext cx="11930138" cy="8947603"/>
          </a:xfrm>
          <a:custGeom>
            <a:avLst/>
            <a:gdLst/>
            <a:ahLst/>
            <a:cxnLst/>
            <a:rect r="r" b="b" t="t" l="l"/>
            <a:pathLst>
              <a:path h="8947603" w="11930138">
                <a:moveTo>
                  <a:pt x="0" y="0"/>
                </a:moveTo>
                <a:lnTo>
                  <a:pt x="11930137" y="0"/>
                </a:lnTo>
                <a:lnTo>
                  <a:pt x="11930137" y="8947603"/>
                </a:lnTo>
                <a:lnTo>
                  <a:pt x="0" y="8947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9281" y="-266700"/>
            <a:ext cx="10511390" cy="530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67"/>
              </a:lnSpc>
              <a:spcBef>
                <a:spcPct val="0"/>
              </a:spcBef>
            </a:pPr>
            <a:r>
              <a:rPr lang="en-US" sz="15190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SOFTWARE</a:t>
            </a:r>
          </a:p>
          <a:p>
            <a:pPr algn="l" marL="0" indent="0" lvl="0">
              <a:lnSpc>
                <a:spcPts val="21267"/>
              </a:lnSpc>
              <a:spcBef>
                <a:spcPct val="0"/>
              </a:spcBef>
            </a:pPr>
            <a:r>
              <a:rPr lang="en-US" sz="15190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ARCHITEKTUR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9281" y="9393587"/>
            <a:ext cx="2905622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Tim Brutscher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71209" y="9393587"/>
            <a:ext cx="1888091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92965" y="622935"/>
            <a:ext cx="1444579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2EFEB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Slide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1209" y="552114"/>
            <a:ext cx="1888091" cy="595031"/>
            <a:chOff x="0" y="0"/>
            <a:chExt cx="497275" cy="156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275" cy="156716"/>
            </a:xfrm>
            <a:custGeom>
              <a:avLst/>
              <a:gdLst/>
              <a:ahLst/>
              <a:cxnLst/>
              <a:rect r="r" b="b" t="t" l="l"/>
              <a:pathLst>
                <a:path h="156716" w="497275">
                  <a:moveTo>
                    <a:pt x="78358" y="0"/>
                  </a:moveTo>
                  <a:lnTo>
                    <a:pt x="418917" y="0"/>
                  </a:lnTo>
                  <a:cubicBezTo>
                    <a:pt x="462193" y="0"/>
                    <a:pt x="497275" y="35082"/>
                    <a:pt x="497275" y="78358"/>
                  </a:cubicBezTo>
                  <a:lnTo>
                    <a:pt x="497275" y="78358"/>
                  </a:lnTo>
                  <a:cubicBezTo>
                    <a:pt x="497275" y="121634"/>
                    <a:pt x="462193" y="156716"/>
                    <a:pt x="418917" y="156716"/>
                  </a:cubicBezTo>
                  <a:lnTo>
                    <a:pt x="78358" y="156716"/>
                  </a:lnTo>
                  <a:cubicBezTo>
                    <a:pt x="35082" y="156716"/>
                    <a:pt x="0" y="121634"/>
                    <a:pt x="0" y="78358"/>
                  </a:cubicBezTo>
                  <a:lnTo>
                    <a:pt x="0" y="78358"/>
                  </a:lnTo>
                  <a:cubicBezTo>
                    <a:pt x="0" y="35082"/>
                    <a:pt x="35082" y="0"/>
                    <a:pt x="7835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7275" cy="204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505798" y="1028700"/>
            <a:ext cx="3942817" cy="8229600"/>
            <a:chOff x="0" y="0"/>
            <a:chExt cx="610845" cy="12749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0846" cy="1274980"/>
            </a:xfrm>
            <a:custGeom>
              <a:avLst/>
              <a:gdLst/>
              <a:ahLst/>
              <a:cxnLst/>
              <a:rect r="r" b="b" t="t" l="l"/>
              <a:pathLst>
                <a:path h="1274980" w="610846">
                  <a:moveTo>
                    <a:pt x="45162" y="0"/>
                  </a:moveTo>
                  <a:lnTo>
                    <a:pt x="565684" y="0"/>
                  </a:lnTo>
                  <a:cubicBezTo>
                    <a:pt x="590626" y="0"/>
                    <a:pt x="610846" y="20220"/>
                    <a:pt x="610846" y="45162"/>
                  </a:cubicBezTo>
                  <a:lnTo>
                    <a:pt x="610846" y="1229819"/>
                  </a:lnTo>
                  <a:cubicBezTo>
                    <a:pt x="610846" y="1254761"/>
                    <a:pt x="590626" y="1274980"/>
                    <a:pt x="565684" y="1274980"/>
                  </a:cubicBezTo>
                  <a:lnTo>
                    <a:pt x="45162" y="1274980"/>
                  </a:lnTo>
                  <a:cubicBezTo>
                    <a:pt x="20220" y="1274980"/>
                    <a:pt x="0" y="1254761"/>
                    <a:pt x="0" y="1229819"/>
                  </a:cubicBezTo>
                  <a:lnTo>
                    <a:pt x="0" y="45162"/>
                  </a:lnTo>
                  <a:cubicBezTo>
                    <a:pt x="0" y="20220"/>
                    <a:pt x="20220" y="0"/>
                    <a:pt x="4516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99" r="0" b="-29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825430" y="6534609"/>
            <a:ext cx="12433870" cy="2129547"/>
            <a:chOff x="0" y="0"/>
            <a:chExt cx="3274764" cy="5608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74764" cy="560868"/>
            </a:xfrm>
            <a:custGeom>
              <a:avLst/>
              <a:gdLst/>
              <a:ahLst/>
              <a:cxnLst/>
              <a:rect r="r" b="b" t="t" l="l"/>
              <a:pathLst>
                <a:path h="560868" w="3274764">
                  <a:moveTo>
                    <a:pt x="31755" y="0"/>
                  </a:moveTo>
                  <a:lnTo>
                    <a:pt x="3243009" y="0"/>
                  </a:lnTo>
                  <a:cubicBezTo>
                    <a:pt x="3251431" y="0"/>
                    <a:pt x="3259508" y="3346"/>
                    <a:pt x="3265463" y="9301"/>
                  </a:cubicBezTo>
                  <a:cubicBezTo>
                    <a:pt x="3271419" y="15256"/>
                    <a:pt x="3274764" y="23333"/>
                    <a:pt x="3274764" y="31755"/>
                  </a:cubicBezTo>
                  <a:lnTo>
                    <a:pt x="3274764" y="529113"/>
                  </a:lnTo>
                  <a:cubicBezTo>
                    <a:pt x="3274764" y="537535"/>
                    <a:pt x="3271419" y="545612"/>
                    <a:pt x="3265463" y="551567"/>
                  </a:cubicBezTo>
                  <a:cubicBezTo>
                    <a:pt x="3259508" y="557523"/>
                    <a:pt x="3251431" y="560868"/>
                    <a:pt x="3243009" y="560868"/>
                  </a:cubicBezTo>
                  <a:lnTo>
                    <a:pt x="31755" y="560868"/>
                  </a:lnTo>
                  <a:cubicBezTo>
                    <a:pt x="23333" y="560868"/>
                    <a:pt x="15256" y="557523"/>
                    <a:pt x="9301" y="551567"/>
                  </a:cubicBezTo>
                  <a:cubicBezTo>
                    <a:pt x="3346" y="545612"/>
                    <a:pt x="0" y="537535"/>
                    <a:pt x="0" y="529113"/>
                  </a:cubicBezTo>
                  <a:lnTo>
                    <a:pt x="0" y="31755"/>
                  </a:lnTo>
                  <a:cubicBezTo>
                    <a:pt x="0" y="23333"/>
                    <a:pt x="3346" y="15256"/>
                    <a:pt x="9301" y="9301"/>
                  </a:cubicBezTo>
                  <a:cubicBezTo>
                    <a:pt x="15256" y="3346"/>
                    <a:pt x="23333" y="0"/>
                    <a:pt x="31755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274764" cy="608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606385" y="1028700"/>
            <a:ext cx="3942817" cy="8229600"/>
            <a:chOff x="0" y="0"/>
            <a:chExt cx="610845" cy="12749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0846" cy="1274980"/>
            </a:xfrm>
            <a:custGeom>
              <a:avLst/>
              <a:gdLst/>
              <a:ahLst/>
              <a:cxnLst/>
              <a:rect r="r" b="b" t="t" l="l"/>
              <a:pathLst>
                <a:path h="1274980" w="610846">
                  <a:moveTo>
                    <a:pt x="45162" y="0"/>
                  </a:moveTo>
                  <a:lnTo>
                    <a:pt x="565684" y="0"/>
                  </a:lnTo>
                  <a:cubicBezTo>
                    <a:pt x="590626" y="0"/>
                    <a:pt x="610846" y="20220"/>
                    <a:pt x="610846" y="45162"/>
                  </a:cubicBezTo>
                  <a:lnTo>
                    <a:pt x="610846" y="1229819"/>
                  </a:lnTo>
                  <a:cubicBezTo>
                    <a:pt x="610846" y="1254761"/>
                    <a:pt x="590626" y="1274980"/>
                    <a:pt x="565684" y="1274980"/>
                  </a:cubicBezTo>
                  <a:lnTo>
                    <a:pt x="45162" y="1274980"/>
                  </a:lnTo>
                  <a:cubicBezTo>
                    <a:pt x="20220" y="1274980"/>
                    <a:pt x="0" y="1254761"/>
                    <a:pt x="0" y="1229819"/>
                  </a:cubicBezTo>
                  <a:lnTo>
                    <a:pt x="0" y="45162"/>
                  </a:lnTo>
                  <a:cubicBezTo>
                    <a:pt x="0" y="20220"/>
                    <a:pt x="20220" y="0"/>
                    <a:pt x="4516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99" r="0" b="-299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880665" y="2301903"/>
            <a:ext cx="8922122" cy="236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199"/>
              </a:lnSpc>
            </a:pPr>
            <a:r>
              <a:rPr lang="en-US" sz="19110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PROJEKTÜBERBLICK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7675" y="9391650"/>
            <a:ext cx="29146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Tim Brutscher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73350" y="9391650"/>
            <a:ext cx="18954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92965" y="622935"/>
            <a:ext cx="1444579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2EFEB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Slide 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80665" y="4228289"/>
            <a:ext cx="9378635" cy="193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TiChess ist ein Schachprojekt in Scala 3.3.4. Es kombiniert vollständige Schachlogik, FEN/PGN-Unterstützung, mehrere Oberflächen und einen Docker-/Kubernetes-fähigen Service-Stack. Die Architektur trennt Fachlogik, Spielzustand, Darstellung, Streaming und Analytics klar voneinander.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81942" y="6808173"/>
            <a:ext cx="11520846" cy="1544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8">
                <a:solidFill>
                  <a:srgbClr val="F2EFEB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Hauptfunktionalitäten: legale Züge inkl. Rochade, en passant, Promotion, Matt, Patt und 50-Züge-Regel; FEN/PGN-Import und -Export; Persistenz über Datenbank; Web-UI, Console-UI und ScalaFX-GUI; Puzzle-/Challenge-Training; Bot-Anbindung an Lichess und NowChess-Turnierserver.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1209" y="552114"/>
            <a:ext cx="1888091" cy="595031"/>
            <a:chOff x="0" y="0"/>
            <a:chExt cx="497275" cy="156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275" cy="156716"/>
            </a:xfrm>
            <a:custGeom>
              <a:avLst/>
              <a:gdLst/>
              <a:ahLst/>
              <a:cxnLst/>
              <a:rect r="r" b="b" t="t" l="l"/>
              <a:pathLst>
                <a:path h="156716" w="497275">
                  <a:moveTo>
                    <a:pt x="78358" y="0"/>
                  </a:moveTo>
                  <a:lnTo>
                    <a:pt x="418917" y="0"/>
                  </a:lnTo>
                  <a:cubicBezTo>
                    <a:pt x="462193" y="0"/>
                    <a:pt x="497275" y="35082"/>
                    <a:pt x="497275" y="78358"/>
                  </a:cubicBezTo>
                  <a:lnTo>
                    <a:pt x="497275" y="78358"/>
                  </a:lnTo>
                  <a:cubicBezTo>
                    <a:pt x="497275" y="121634"/>
                    <a:pt x="462193" y="156716"/>
                    <a:pt x="418917" y="156716"/>
                  </a:cubicBezTo>
                  <a:lnTo>
                    <a:pt x="78358" y="156716"/>
                  </a:lnTo>
                  <a:cubicBezTo>
                    <a:pt x="35082" y="156716"/>
                    <a:pt x="0" y="121634"/>
                    <a:pt x="0" y="78358"/>
                  </a:cubicBezTo>
                  <a:lnTo>
                    <a:pt x="0" y="78358"/>
                  </a:lnTo>
                  <a:cubicBezTo>
                    <a:pt x="0" y="35082"/>
                    <a:pt x="35082" y="0"/>
                    <a:pt x="7835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7275" cy="204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704975"/>
            <a:ext cx="5767744" cy="385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97"/>
              </a:lnSpc>
            </a:pPr>
            <a:r>
              <a:rPr lang="en-US" sz="17871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ARCHITEKTUR-</a:t>
            </a:r>
          </a:p>
          <a:p>
            <a:pPr algn="l" marL="0" indent="0" lvl="0">
              <a:lnSpc>
                <a:spcPts val="14297"/>
              </a:lnSpc>
            </a:pPr>
            <a:r>
              <a:rPr lang="en-US" sz="17871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ÜBERSICHT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3322485" y="4343728"/>
            <a:ext cx="11029769" cy="10126027"/>
          </a:xfrm>
          <a:custGeom>
            <a:avLst/>
            <a:gdLst/>
            <a:ahLst/>
            <a:cxnLst/>
            <a:rect r="r" b="b" t="t" l="l"/>
            <a:pathLst>
              <a:path h="10126027" w="11029769">
                <a:moveTo>
                  <a:pt x="0" y="0"/>
                </a:moveTo>
                <a:lnTo>
                  <a:pt x="11029769" y="0"/>
                </a:lnTo>
                <a:lnTo>
                  <a:pt x="11029769" y="10126027"/>
                </a:lnTo>
                <a:lnTo>
                  <a:pt x="0" y="10126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7675" y="9391650"/>
            <a:ext cx="29146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Tim Brutscher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73350" y="9391650"/>
            <a:ext cx="18954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92965" y="632460"/>
            <a:ext cx="1444579" cy="38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99"/>
              </a:lnSpc>
              <a:spcBef>
                <a:spcPct val="0"/>
              </a:spcBef>
            </a:pPr>
            <a:r>
              <a:rPr lang="en-US" b="true" sz="2285">
                <a:solidFill>
                  <a:srgbClr val="F2EFEB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Slide 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45331" y="2052133"/>
            <a:ext cx="9713969" cy="110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2"/>
              </a:lnSpc>
              <a:spcBef>
                <a:spcPct val="0"/>
              </a:spcBef>
            </a:pPr>
            <a:r>
              <a:rPr lang="en-US" b="true" sz="2094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Die Docker-Anwendung ist in fünf Services gegliedert: model-service für Regeln, controller-service für Zustand und Persistenz, view-service für die Weboberfläche, stream-service für DSL/Kafka-Verarbeitung und spark-analytics für Bestenlisten.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45331" y="1598743"/>
            <a:ext cx="764427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SERVICE-ARCHITEKTUR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45331" y="7858343"/>
            <a:ext cx="9713969" cy="110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2"/>
              </a:lnSpc>
              <a:spcBef>
                <a:spcPct val="0"/>
              </a:spcBef>
            </a:pPr>
            <a:r>
              <a:rPr lang="en-US" b="true" sz="2094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Die Servicegrenzen verhindern, dass Streaming, UI oder Analytics Schachregeln duplizieren. Der Controller ruft das Model per HTTP auf, publiziert fachliche Game-Events nach Kafka und lädt bzw. speichert Spielzustände über MongoDB.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45331" y="7404953"/>
            <a:ext cx="764427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ARCHITEKTURPRINZIPIEN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45331" y="3980180"/>
            <a:ext cx="9713969" cy="110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2"/>
              </a:lnSpc>
              <a:spcBef>
                <a:spcPct val="0"/>
              </a:spcBef>
            </a:pPr>
            <a:r>
              <a:rPr lang="en-US" b="true" sz="2094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Zusätzliche Pfade docken über Schnittstellen an: Akka Streams verarbeitet eine externe Schach-DSL, Kafka transportiert Kommandos und Events, Spark Structured Streaming aggregiert abgeschlossene Partien zu White/Black-Statistiken.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45331" y="3526790"/>
            <a:ext cx="764427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MODULSTRUKTUR &amp; BEZIEHUNGEN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45331" y="5919262"/>
            <a:ext cx="9713969" cy="110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2"/>
              </a:lnSpc>
              <a:spcBef>
                <a:spcPct val="0"/>
              </a:spcBef>
            </a:pPr>
            <a:r>
              <a:rPr lang="en-US" b="true" sz="2094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Technologien: Scala 3.3.4, Akka HTTP, Akka Streams, Alpakka Kafka, Spark SQL/Structured Streaming, MongoDB, Slick/PostgreSQL/H2, ScalaFX, Docker Compose, Kubernetes/k3d, Gatling und JMH.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45331" y="5465872"/>
            <a:ext cx="764427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VERWENDETE TECHNOLOGIEN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1209" y="552114"/>
            <a:ext cx="1888091" cy="595031"/>
            <a:chOff x="0" y="0"/>
            <a:chExt cx="497275" cy="156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275" cy="156716"/>
            </a:xfrm>
            <a:custGeom>
              <a:avLst/>
              <a:gdLst/>
              <a:ahLst/>
              <a:cxnLst/>
              <a:rect r="r" b="b" t="t" l="l"/>
              <a:pathLst>
                <a:path h="156716" w="497275">
                  <a:moveTo>
                    <a:pt x="78358" y="0"/>
                  </a:moveTo>
                  <a:lnTo>
                    <a:pt x="418917" y="0"/>
                  </a:lnTo>
                  <a:cubicBezTo>
                    <a:pt x="462193" y="0"/>
                    <a:pt x="497275" y="35082"/>
                    <a:pt x="497275" y="78358"/>
                  </a:cubicBezTo>
                  <a:lnTo>
                    <a:pt x="497275" y="78358"/>
                  </a:lnTo>
                  <a:cubicBezTo>
                    <a:pt x="497275" y="121634"/>
                    <a:pt x="462193" y="156716"/>
                    <a:pt x="418917" y="156716"/>
                  </a:cubicBezTo>
                  <a:lnTo>
                    <a:pt x="78358" y="156716"/>
                  </a:lnTo>
                  <a:cubicBezTo>
                    <a:pt x="35082" y="156716"/>
                    <a:pt x="0" y="121634"/>
                    <a:pt x="0" y="78358"/>
                  </a:cubicBezTo>
                  <a:lnTo>
                    <a:pt x="0" y="78358"/>
                  </a:lnTo>
                  <a:cubicBezTo>
                    <a:pt x="0" y="35082"/>
                    <a:pt x="35082" y="0"/>
                    <a:pt x="7835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7275" cy="204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619250"/>
            <a:ext cx="5767744" cy="5015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25"/>
              </a:lnSpc>
            </a:pPr>
            <a:r>
              <a:rPr lang="en-US" sz="15781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KERN-</a:t>
            </a:r>
          </a:p>
          <a:p>
            <a:pPr algn="l" marL="0" indent="0" lvl="0">
              <a:lnSpc>
                <a:spcPts val="12625"/>
              </a:lnSpc>
            </a:pPr>
            <a:r>
              <a:rPr lang="en-US" sz="15781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KOMPO-</a:t>
            </a:r>
          </a:p>
          <a:p>
            <a:pPr algn="l" marL="0" indent="0" lvl="0">
              <a:lnSpc>
                <a:spcPts val="12625"/>
              </a:lnSpc>
            </a:pPr>
            <a:r>
              <a:rPr lang="en-US" sz="15781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NENTEN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4246627" y="4663240"/>
            <a:ext cx="12233733" cy="8961210"/>
          </a:xfrm>
          <a:custGeom>
            <a:avLst/>
            <a:gdLst/>
            <a:ahLst/>
            <a:cxnLst/>
            <a:rect r="r" b="b" t="t" l="l"/>
            <a:pathLst>
              <a:path h="8961210" w="12233733">
                <a:moveTo>
                  <a:pt x="0" y="0"/>
                </a:moveTo>
                <a:lnTo>
                  <a:pt x="12233733" y="0"/>
                </a:lnTo>
                <a:lnTo>
                  <a:pt x="12233733" y="8961209"/>
                </a:lnTo>
                <a:lnTo>
                  <a:pt x="0" y="89612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7675" y="9391650"/>
            <a:ext cx="29146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Tim Brutscher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73350" y="9391650"/>
            <a:ext cx="18954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92965" y="622935"/>
            <a:ext cx="1444579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2EFEB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Slide 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45331" y="2061658"/>
            <a:ext cx="9713969" cy="115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Model-Service und Domänenmodell prüfen legale Züge, Schach, Matt, Patt, Rochade, en passant, Promotion und 50-Züge-Regel. Der Service arbeitet zustandslos auf Basis von FEN und gibt neue Spielzustände zurück.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45331" y="1598743"/>
            <a:ext cx="764427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MODEL-SERVICE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45331" y="7867868"/>
            <a:ext cx="9713969" cy="115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Stream-Service verarbeitet mehrzeilige Schachkommandos per Akka Streams. Derselbe Validierungsfluss kann direkt per HTTP laufen oder über Kafka Topics tichess.commands und tichess.events.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45331" y="7404953"/>
            <a:ext cx="764427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STREAMING &amp; KAFKA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45331" y="3989705"/>
            <a:ext cx="9713969" cy="115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Der Bot nutzt Alpha-Beta/Negamax mit Zeitbudget, Move Ordering, Transposition Table über Zobrist-Hash, Opening Database, Pesto-Bewertung und optional Syzygy-Endspiel-Tablebases.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45331" y="3526790"/>
            <a:ext cx="764427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SCHACH-BOT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45331" y="5928787"/>
            <a:ext cx="9713969" cy="115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View-Service liefert die Weboberfläche aus und kommuniziert per HTTP mit dem Controller. Zusätzlich existieren Console-UI und lokale ScalaFX-GUI als alternative Bedienoberflächen.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45331" y="5465872"/>
            <a:ext cx="764427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VIEW-SERVICE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1209" y="552114"/>
            <a:ext cx="1888091" cy="595031"/>
            <a:chOff x="0" y="0"/>
            <a:chExt cx="497275" cy="156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275" cy="156716"/>
            </a:xfrm>
            <a:custGeom>
              <a:avLst/>
              <a:gdLst/>
              <a:ahLst/>
              <a:cxnLst/>
              <a:rect r="r" b="b" t="t" l="l"/>
              <a:pathLst>
                <a:path h="156716" w="497275">
                  <a:moveTo>
                    <a:pt x="78358" y="0"/>
                  </a:moveTo>
                  <a:lnTo>
                    <a:pt x="418917" y="0"/>
                  </a:lnTo>
                  <a:cubicBezTo>
                    <a:pt x="462193" y="0"/>
                    <a:pt x="497275" y="35082"/>
                    <a:pt x="497275" y="78358"/>
                  </a:cubicBezTo>
                  <a:lnTo>
                    <a:pt x="497275" y="78358"/>
                  </a:lnTo>
                  <a:cubicBezTo>
                    <a:pt x="497275" y="121634"/>
                    <a:pt x="462193" y="156716"/>
                    <a:pt x="418917" y="156716"/>
                  </a:cubicBezTo>
                  <a:lnTo>
                    <a:pt x="78358" y="156716"/>
                  </a:lnTo>
                  <a:cubicBezTo>
                    <a:pt x="35082" y="156716"/>
                    <a:pt x="0" y="121634"/>
                    <a:pt x="0" y="78358"/>
                  </a:cubicBezTo>
                  <a:lnTo>
                    <a:pt x="0" y="78358"/>
                  </a:lnTo>
                  <a:cubicBezTo>
                    <a:pt x="0" y="35082"/>
                    <a:pt x="35082" y="0"/>
                    <a:pt x="7835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7275" cy="204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619250"/>
            <a:ext cx="5772150" cy="181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24"/>
              </a:lnSpc>
              <a:spcBef>
                <a:spcPct val="0"/>
              </a:spcBef>
            </a:pPr>
            <a:r>
              <a:rPr lang="en-US" sz="15780" strike="noStrike" u="none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WEB-UI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7675" y="9391650"/>
            <a:ext cx="29146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Tim Brutscher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373350" y="9391650"/>
            <a:ext cx="18954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592425" y="619125"/>
            <a:ext cx="14478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2EFEB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Slide 05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43800" y="2057400"/>
            <a:ext cx="9715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Der view-service liefert HTML, CSS und JavaScript aus. Er bleibt bewusst dünn und delegiert Kommandos, FEN/PGN, Challenges und Statistikdaten an den controller-service.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43800" y="1600200"/>
            <a:ext cx="76485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AUFBAU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43800" y="7867650"/>
            <a:ext cx="9715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Kommunikation erfolgt über HTTP/REST: Browser -&gt; view-service -&gt; controller-service -&gt; model-service. Der Controller verwaltet Zustand, Persistenz und fachliche Kommandos.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43800" y="7400925"/>
            <a:ext cx="76485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SERVICE-ANBINDUNG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43800" y="3990975"/>
            <a:ext cx="9715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Die Web-UI zeigt Brett, Zughistorie, geschlagene Figuren, Materialanzeige, FEN/PGN-Funktionen, Remis/Aufgabe/Neues Spiel sowie Puzzle-/Challenge-Training.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43800" y="3524250"/>
            <a:ext cx="76485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SPIELFUNKTIONEN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43800" y="5924550"/>
            <a:ext cx="9715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Der Statistik-Tab liest über View und Controller die von Spark berechnete White/Black-Bestenliste aus MongoDB und aktualisiert die Anzeige regelmäßig.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43800" y="5467350"/>
            <a:ext cx="76485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STATISTIK-TAB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1209" y="552114"/>
            <a:ext cx="1888091" cy="595031"/>
            <a:chOff x="0" y="0"/>
            <a:chExt cx="497275" cy="156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275" cy="156716"/>
            </a:xfrm>
            <a:custGeom>
              <a:avLst/>
              <a:gdLst/>
              <a:ahLst/>
              <a:cxnLst/>
              <a:rect r="r" b="b" t="t" l="l"/>
              <a:pathLst>
                <a:path h="156716" w="497275">
                  <a:moveTo>
                    <a:pt x="78358" y="0"/>
                  </a:moveTo>
                  <a:lnTo>
                    <a:pt x="418917" y="0"/>
                  </a:lnTo>
                  <a:cubicBezTo>
                    <a:pt x="462193" y="0"/>
                    <a:pt x="497275" y="35082"/>
                    <a:pt x="497275" y="78358"/>
                  </a:cubicBezTo>
                  <a:lnTo>
                    <a:pt x="497275" y="78358"/>
                  </a:lnTo>
                  <a:cubicBezTo>
                    <a:pt x="497275" y="121634"/>
                    <a:pt x="462193" y="156716"/>
                    <a:pt x="418917" y="156716"/>
                  </a:cubicBezTo>
                  <a:lnTo>
                    <a:pt x="78358" y="156716"/>
                  </a:lnTo>
                  <a:cubicBezTo>
                    <a:pt x="35082" y="156716"/>
                    <a:pt x="0" y="121634"/>
                    <a:pt x="0" y="78358"/>
                  </a:cubicBezTo>
                  <a:lnTo>
                    <a:pt x="0" y="78358"/>
                  </a:lnTo>
                  <a:cubicBezTo>
                    <a:pt x="0" y="35082"/>
                    <a:pt x="35082" y="0"/>
                    <a:pt x="7835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7275" cy="204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619250"/>
            <a:ext cx="5772150" cy="341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24"/>
              </a:lnSpc>
              <a:spcBef>
                <a:spcPct val="0"/>
              </a:spcBef>
            </a:pPr>
            <a:r>
              <a:rPr lang="en-US" sz="15780" strike="noStrike" u="none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SCHACH-</a:t>
            </a:r>
          </a:p>
          <a:p>
            <a:pPr algn="l" marL="0" indent="0" lvl="0">
              <a:lnSpc>
                <a:spcPts val="12624"/>
              </a:lnSpc>
              <a:spcBef>
                <a:spcPct val="0"/>
              </a:spcBef>
            </a:pPr>
            <a:r>
              <a:rPr lang="en-US" sz="15780" strike="noStrike" u="none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BOT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7675" y="9391650"/>
            <a:ext cx="29146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Tim Brutscher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373350" y="9391650"/>
            <a:ext cx="18954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592425" y="619125"/>
            <a:ext cx="14478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2EFEB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Slide 06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43800" y="2057400"/>
            <a:ext cx="9715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Alpha-Beta/Negamax-Suche mit Zeitbudget, iterativer Vertiefung, Move Ordering, Transposition Table und Null-Move-Pruning. Das Ziel ist gute Zugwahl innerhalb begrenzter Bedenkzeit.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43800" y="1600200"/>
            <a:ext cx="76485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ALGORITHMEN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43800" y="7867650"/>
            <a:ext cx="9715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OpeningDatabase und PgnOpeningDatabase nutzen PGN-Partien, um in der Eröffnung plausible Züge zu wählen und wiederkehrende Positionen über FEN/Normalisierung zu erkennen.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43800" y="7400925"/>
            <a:ext cx="76485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ERÖFFNUNGSBIBLIOTHEK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43800" y="3990975"/>
            <a:ext cx="9715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Die Bewertung kombiniert Material, Figurenaktivität, Königssicherheit, Bauernstruktur, Mobilität und Pesto Piece-Square-Tables mit Spielphasenmodell.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43800" y="3524250"/>
            <a:ext cx="76485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BEWERTUNGSFUNKTION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43800" y="5924550"/>
            <a:ext cx="9715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Der Bot ist über Zeitbudget konfigurierbar und kann optional Syzygy-Tablebases per Python-Probe verwenden. Zusätzlich existieren Lichess- und NowChess-Turnierserver-Runner.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43800" y="5467350"/>
            <a:ext cx="76485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INTEGRATIONEN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1209" y="552114"/>
            <a:ext cx="1888091" cy="595031"/>
            <a:chOff x="0" y="0"/>
            <a:chExt cx="497275" cy="156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275" cy="156716"/>
            </a:xfrm>
            <a:custGeom>
              <a:avLst/>
              <a:gdLst/>
              <a:ahLst/>
              <a:cxnLst/>
              <a:rect r="r" b="b" t="t" l="l"/>
              <a:pathLst>
                <a:path h="156716" w="497275">
                  <a:moveTo>
                    <a:pt x="78358" y="0"/>
                  </a:moveTo>
                  <a:lnTo>
                    <a:pt x="418917" y="0"/>
                  </a:lnTo>
                  <a:cubicBezTo>
                    <a:pt x="462193" y="0"/>
                    <a:pt x="497275" y="35082"/>
                    <a:pt x="497275" y="78358"/>
                  </a:cubicBezTo>
                  <a:lnTo>
                    <a:pt x="497275" y="78358"/>
                  </a:lnTo>
                  <a:cubicBezTo>
                    <a:pt x="497275" y="121634"/>
                    <a:pt x="462193" y="156716"/>
                    <a:pt x="418917" y="156716"/>
                  </a:cubicBezTo>
                  <a:lnTo>
                    <a:pt x="78358" y="156716"/>
                  </a:lnTo>
                  <a:cubicBezTo>
                    <a:pt x="35082" y="156716"/>
                    <a:pt x="0" y="121634"/>
                    <a:pt x="0" y="78358"/>
                  </a:cubicBezTo>
                  <a:lnTo>
                    <a:pt x="0" y="78358"/>
                  </a:lnTo>
                  <a:cubicBezTo>
                    <a:pt x="0" y="35082"/>
                    <a:pt x="35082" y="0"/>
                    <a:pt x="7835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7275" cy="204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434422" y="2137780"/>
            <a:ext cx="6880833" cy="1566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382"/>
              </a:lnSpc>
            </a:pPr>
            <a:r>
              <a:rPr lang="en-US" sz="12647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AUSBLICK &amp; ABSCHLUSS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34422" y="4549680"/>
            <a:ext cx="7824878" cy="4432395"/>
            <a:chOff x="0" y="0"/>
            <a:chExt cx="2060873" cy="11673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0873" cy="1167380"/>
            </a:xfrm>
            <a:custGeom>
              <a:avLst/>
              <a:gdLst/>
              <a:ahLst/>
              <a:cxnLst/>
              <a:rect r="r" b="b" t="t" l="l"/>
              <a:pathLst>
                <a:path h="1167380" w="2060873">
                  <a:moveTo>
                    <a:pt x="50459" y="0"/>
                  </a:moveTo>
                  <a:lnTo>
                    <a:pt x="2010414" y="0"/>
                  </a:lnTo>
                  <a:cubicBezTo>
                    <a:pt x="2038282" y="0"/>
                    <a:pt x="2060873" y="22591"/>
                    <a:pt x="2060873" y="50459"/>
                  </a:cubicBezTo>
                  <a:lnTo>
                    <a:pt x="2060873" y="1116920"/>
                  </a:lnTo>
                  <a:cubicBezTo>
                    <a:pt x="2060873" y="1144788"/>
                    <a:pt x="2038282" y="1167380"/>
                    <a:pt x="2010414" y="1167380"/>
                  </a:cubicBezTo>
                  <a:lnTo>
                    <a:pt x="50459" y="1167380"/>
                  </a:lnTo>
                  <a:cubicBezTo>
                    <a:pt x="22591" y="1167380"/>
                    <a:pt x="0" y="1144788"/>
                    <a:pt x="0" y="1116920"/>
                  </a:cubicBezTo>
                  <a:lnTo>
                    <a:pt x="0" y="50459"/>
                  </a:lnTo>
                  <a:cubicBezTo>
                    <a:pt x="0" y="22591"/>
                    <a:pt x="22591" y="0"/>
                    <a:pt x="50459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060873" cy="1215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142086">
            <a:off x="-2618579" y="406381"/>
            <a:ext cx="11638157" cy="11347203"/>
          </a:xfrm>
          <a:custGeom>
            <a:avLst/>
            <a:gdLst/>
            <a:ahLst/>
            <a:cxnLst/>
            <a:rect r="r" b="b" t="t" l="l"/>
            <a:pathLst>
              <a:path h="11347203" w="11638157">
                <a:moveTo>
                  <a:pt x="0" y="0"/>
                </a:moveTo>
                <a:lnTo>
                  <a:pt x="11638157" y="0"/>
                </a:lnTo>
                <a:lnTo>
                  <a:pt x="11638157" y="11347203"/>
                </a:lnTo>
                <a:lnTo>
                  <a:pt x="0" y="113472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47675" y="9401175"/>
            <a:ext cx="2914650" cy="249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5"/>
              </a:lnSpc>
              <a:spcBef>
                <a:spcPct val="0"/>
              </a:spcBef>
            </a:pPr>
            <a:r>
              <a:rPr lang="en-US" b="true" sz="1439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Tim Brutscher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73350" y="9401175"/>
            <a:ext cx="1895475" cy="249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15"/>
              </a:lnSpc>
              <a:spcBef>
                <a:spcPct val="0"/>
              </a:spcBef>
            </a:pPr>
            <a:r>
              <a:rPr lang="en-US" b="true" sz="1439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592965" y="632460"/>
            <a:ext cx="1444579" cy="24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20"/>
              </a:lnSpc>
              <a:spcBef>
                <a:spcPct val="0"/>
              </a:spcBef>
            </a:pPr>
            <a:r>
              <a:rPr lang="en-US" b="true" sz="1443">
                <a:solidFill>
                  <a:srgbClr val="F2EFEB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Slide 07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948965" y="4988187"/>
            <a:ext cx="584893" cy="584893"/>
          </a:xfrm>
          <a:custGeom>
            <a:avLst/>
            <a:gdLst/>
            <a:ahLst/>
            <a:cxnLst/>
            <a:rect r="r" b="b" t="t" l="l"/>
            <a:pathLst>
              <a:path h="584893" w="584893">
                <a:moveTo>
                  <a:pt x="0" y="0"/>
                </a:moveTo>
                <a:lnTo>
                  <a:pt x="584894" y="0"/>
                </a:lnTo>
                <a:lnTo>
                  <a:pt x="584894" y="584893"/>
                </a:lnTo>
                <a:lnTo>
                  <a:pt x="0" y="5848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948965" y="5936592"/>
            <a:ext cx="584893" cy="584893"/>
          </a:xfrm>
          <a:custGeom>
            <a:avLst/>
            <a:gdLst/>
            <a:ahLst/>
            <a:cxnLst/>
            <a:rect r="r" b="b" t="t" l="l"/>
            <a:pathLst>
              <a:path h="584893" w="584893">
                <a:moveTo>
                  <a:pt x="0" y="0"/>
                </a:moveTo>
                <a:lnTo>
                  <a:pt x="584894" y="0"/>
                </a:lnTo>
                <a:lnTo>
                  <a:pt x="584894" y="584893"/>
                </a:lnTo>
                <a:lnTo>
                  <a:pt x="0" y="5848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948965" y="6940585"/>
            <a:ext cx="584893" cy="584893"/>
          </a:xfrm>
          <a:custGeom>
            <a:avLst/>
            <a:gdLst/>
            <a:ahLst/>
            <a:cxnLst/>
            <a:rect r="r" b="b" t="t" l="l"/>
            <a:pathLst>
              <a:path h="584893" w="584893">
                <a:moveTo>
                  <a:pt x="0" y="0"/>
                </a:moveTo>
                <a:lnTo>
                  <a:pt x="584894" y="0"/>
                </a:lnTo>
                <a:lnTo>
                  <a:pt x="584894" y="584893"/>
                </a:lnTo>
                <a:lnTo>
                  <a:pt x="0" y="5848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948965" y="7944578"/>
            <a:ext cx="584893" cy="584893"/>
          </a:xfrm>
          <a:custGeom>
            <a:avLst/>
            <a:gdLst/>
            <a:ahLst/>
            <a:cxnLst/>
            <a:rect r="r" b="b" t="t" l="l"/>
            <a:pathLst>
              <a:path h="584893" w="584893">
                <a:moveTo>
                  <a:pt x="0" y="0"/>
                </a:moveTo>
                <a:lnTo>
                  <a:pt x="584894" y="0"/>
                </a:lnTo>
                <a:lnTo>
                  <a:pt x="584894" y="584894"/>
                </a:lnTo>
                <a:lnTo>
                  <a:pt x="0" y="5848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911384" y="5028699"/>
            <a:ext cx="3800550" cy="30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8"/>
              </a:lnSpc>
              <a:spcBef>
                <a:spcPct val="0"/>
              </a:spcBef>
            </a:pPr>
            <a:r>
              <a:rPr lang="en-US" b="true" sz="1866" spc="56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Scala 3, Akka, Docker/Kubernetes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11384" y="5977104"/>
            <a:ext cx="5029054" cy="30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8"/>
              </a:lnSpc>
              <a:spcBef>
                <a:spcPct val="0"/>
              </a:spcBef>
            </a:pPr>
            <a:r>
              <a:rPr lang="en-US" b="true" sz="1866" spc="56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Bot, Kafka-Streams und Spark-Analytics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11384" y="6981097"/>
            <a:ext cx="5029054" cy="30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8"/>
              </a:lnSpc>
              <a:spcBef>
                <a:spcPct val="0"/>
              </a:spcBef>
            </a:pPr>
            <a:r>
              <a:rPr lang="en-US" b="true" sz="1866" spc="56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99%+ Coverage, k3d-Test und Turnierbot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11384" y="7985091"/>
            <a:ext cx="5571223" cy="30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8"/>
              </a:lnSpc>
              <a:spcBef>
                <a:spcPct val="0"/>
              </a:spcBef>
            </a:pPr>
            <a:r>
              <a:rPr lang="en-US" b="true" sz="1866" spc="56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Danke! Fragen sind willkommen.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DAHODTeXJhE</dc:identifier>
  <dcterms:modified xsi:type="dcterms:W3CDTF">2011-08-01T06:04:30Z</dcterms:modified>
  <cp:revision>1</cp:revision>
  <dc:title>Präsentation: Softwarearchitektur Schach</dc:title>
</cp:coreProperties>
</file>