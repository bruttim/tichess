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dc9671ca69422b" /><Relationship Type="http://schemas.openxmlformats.org/officeDocument/2006/relationships/extended-properties" Target="/docProps/app.xml" Id="R73f27e07c7824b0d" /><Relationship Type="http://schemas.openxmlformats.org/officeDocument/2006/relationships/officeDocument" Target="/ppt/presentation.xml" Id="R41887af8fae242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12f3aef9a64132"/>
  </p:sldMasterIdLst>
  <p:notesMasterIdLst>
    <p:notesMasterId xmlns:r="http://schemas.openxmlformats.org/officeDocument/2006/relationships" r:id="R21a416744a1e49d3"/>
  </p:notesMasterIdLst>
  <p:sldIdLst>
    <p:sldId xmlns:r="http://schemas.openxmlformats.org/officeDocument/2006/relationships" id="256" r:id="R03aadbefa1964f3b"/>
    <p:sldId xmlns:r="http://schemas.openxmlformats.org/officeDocument/2006/relationships" id="257" r:id="Rd3516bf807e84c28"/>
    <p:sldId xmlns:r="http://schemas.openxmlformats.org/officeDocument/2006/relationships" id="258" r:id="Ra40635f9b78845f1"/>
    <p:sldId xmlns:r="http://schemas.openxmlformats.org/officeDocument/2006/relationships" id="259" r:id="R4a8690704b1846e9"/>
    <p:sldId xmlns:r="http://schemas.openxmlformats.org/officeDocument/2006/relationships" id="260" r:id="Ra6daa05f4fd4413d"/>
    <p:sldId xmlns:r="http://schemas.openxmlformats.org/officeDocument/2006/relationships" id="261" r:id="R4b4137fc09814b5e"/>
    <p:sldId xmlns:r="http://schemas.openxmlformats.org/officeDocument/2006/relationships" id="262" r:id="Rb57951433d7b4aa9"/>
    <p:sldId xmlns:r="http://schemas.openxmlformats.org/officeDocument/2006/relationships" id="263" r:id="Ra2b0228b7ecb4611"/>
    <p:sldId xmlns:r="http://schemas.openxmlformats.org/officeDocument/2006/relationships" id="264" r:id="R6d8ad39941a74fcc"/>
    <p:sldId xmlns:r="http://schemas.openxmlformats.org/officeDocument/2006/relationships" id="265" r:id="R22feec91054846f7"/>
    <p:sldId xmlns:r="http://schemas.openxmlformats.org/officeDocument/2006/relationships" id="266" r:id="Rdb2aad33591048c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c0c8854dde4e56" /><Relationship Type="http://schemas.openxmlformats.org/officeDocument/2006/relationships/slideMaster" Target="/ppt/slideMasters/slideMaster1.xml" Id="R7d12f3aef9a64132" /><Relationship Type="http://schemas.openxmlformats.org/officeDocument/2006/relationships/notesMaster" Target="/ppt/notesMasters/notesMaster1.xml" Id="R21a416744a1e49d3" /><Relationship Type="http://schemas.openxmlformats.org/officeDocument/2006/relationships/presProps" Target="/ppt/presProps.xml" Id="Ra41edcf9df48468c" /><Relationship Type="http://schemas.openxmlformats.org/officeDocument/2006/relationships/tableStyles" Target="/ppt/tableStyles.xml" Id="R4e90f5e03c61496d" /><Relationship Type="http://schemas.openxmlformats.org/officeDocument/2006/relationships/slide" Target="/ppt/slides/slide1.xml" Id="R03aadbefa1964f3b" /><Relationship Type="http://schemas.openxmlformats.org/officeDocument/2006/relationships/slide" Target="/ppt/slides/slide2.xml" Id="Rd3516bf807e84c28" /><Relationship Type="http://schemas.openxmlformats.org/officeDocument/2006/relationships/slide" Target="/ppt/slides/slide3.xml" Id="Ra40635f9b78845f1" /><Relationship Type="http://schemas.openxmlformats.org/officeDocument/2006/relationships/slide" Target="/ppt/slides/slide4.xml" Id="R4a8690704b1846e9" /><Relationship Type="http://schemas.openxmlformats.org/officeDocument/2006/relationships/slide" Target="/ppt/slides/slide5.xml" Id="Ra6daa05f4fd4413d" /><Relationship Type="http://schemas.openxmlformats.org/officeDocument/2006/relationships/slide" Target="/ppt/slides/slide6.xml" Id="R4b4137fc09814b5e" /><Relationship Type="http://schemas.openxmlformats.org/officeDocument/2006/relationships/slide" Target="/ppt/slides/slide7.xml" Id="Rb57951433d7b4aa9" /><Relationship Type="http://schemas.openxmlformats.org/officeDocument/2006/relationships/slide" Target="/ppt/slides/slide8.xml" Id="Ra2b0228b7ecb4611" /><Relationship Type="http://schemas.openxmlformats.org/officeDocument/2006/relationships/slide" Target="/ppt/slides/slide9.xml" Id="R6d8ad39941a74fcc" /><Relationship Type="http://schemas.openxmlformats.org/officeDocument/2006/relationships/slide" Target="/ppt/slides/slide10.xml" Id="R22feec91054846f7" /><Relationship Type="http://schemas.openxmlformats.org/officeDocument/2006/relationships/slide" Target="/ppt/slides/slide11.xml" Id="Rdb2aad33591048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9b5211ac2d44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d7760dad2443c6" /><Relationship Type="http://schemas.openxmlformats.org/officeDocument/2006/relationships/notesMaster" Target="/ppt/notesMasters/notesMaster1.xml" Id="Rf666f63c49f34f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70bc8d599e4877" /><Relationship Type="http://schemas.openxmlformats.org/officeDocument/2006/relationships/notesMaster" Target="/ppt/notesMasters/notesMaster1.xml" Id="Rc3c03f6f43e746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019e0667154b89" /><Relationship Type="http://schemas.openxmlformats.org/officeDocument/2006/relationships/notesMaster" Target="/ppt/notesMasters/notesMaster1.xml" Id="Rbe77addfe41547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6cbb9b12454197" /><Relationship Type="http://schemas.openxmlformats.org/officeDocument/2006/relationships/notesMaster" Target="/ppt/notesMasters/notesMaster1.xml" Id="R67091f5daec44d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fb9f428ee0451f" /><Relationship Type="http://schemas.openxmlformats.org/officeDocument/2006/relationships/notesMaster" Target="/ppt/notesMasters/notesMaster1.xml" Id="Rc3fc88f26e544b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9367fb92bf4aad" /><Relationship Type="http://schemas.openxmlformats.org/officeDocument/2006/relationships/notesMaster" Target="/ppt/notesMasters/notesMaster1.xml" Id="R3f2c12ae843f47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a0c5d28a1d4b61" /><Relationship Type="http://schemas.openxmlformats.org/officeDocument/2006/relationships/notesMaster" Target="/ppt/notesMasters/notesMaster1.xml" Id="R9554d1c573224d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3cd5bc549540da" /><Relationship Type="http://schemas.openxmlformats.org/officeDocument/2006/relationships/notesMaster" Target="/ppt/notesMasters/notesMaster1.xml" Id="Ra93c312989e44c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7dcdc0af544a79" /><Relationship Type="http://schemas.openxmlformats.org/officeDocument/2006/relationships/notesMaster" Target="/ppt/notesMasters/notesMaster1.xml" Id="R7fef81e277484b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e63f50d4a94169" /><Relationship Type="http://schemas.openxmlformats.org/officeDocument/2006/relationships/notesMaster" Target="/ppt/notesMasters/notesMaster1.xml" Id="Ra165589145ac42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fc0ed1dd514313" /><Relationship Type="http://schemas.openxmlformats.org/officeDocument/2006/relationships/notesMaster" Target="/ppt/notesMasters/notesMaster1.xml" Id="R4f8e0ff40fc748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Begrüßung und kurzer Einstieg: Ich stelle heute die Softwarearchitektur meines Schachprojekts TiChess vor.</a:t>
            </a:r>
          </a:p>
          <a:p xmlns:a="http://schemas.openxmlformats.org/drawingml/2006/main">
            <a:r>
              <a:t>Der Fokus liegt nicht nur auf der Schachlogik, sondern darauf, wie die einzelnen technischen Bausteine zusammenarbeiten.</a:t>
            </a:r>
          </a:p>
          <a:p xmlns:a="http://schemas.openxmlformats.org/drawingml/2006/main">
            <a:r>
              <a:t>Kurz einordnen: Das Projekt ist als Scala-basierte Anwendung mit mehreren Oberflächen, Services, Streaming und Analytics umgesetzt.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TiChess ist ein vollständiges Schachprojekt in Scala 3.3.4 und geht über eine einfache Brettdarstellung hinaus.</a:t>
            </a:r>
          </a:p>
          <a:p xmlns:a="http://schemas.openxmlformats.org/drawingml/2006/main">
            <a:r>
              <a:t>Wichtig ist die klare Trennung: Regeln und Fachlogik liegen im Model, Spielzustand und Persistenz im Controller, Darstellung im View-Service.</a:t>
            </a:r>
          </a:p>
          <a:p xmlns:a="http://schemas.openxmlformats.org/drawingml/2006/main">
            <a:r>
              <a:t>Zusätzlich gibt es Erweiterungen für Streaming, Analytics und Bot-Funktionalität, sodass die Architektur modular wachsen kann.</a:t>
            </a:r>
          </a:p>
          <a:p xmlns:a="http://schemas.openxmlformats.org/drawingml/2006/main">
            <a:r>
              <a:t>Als roter Faden gilt: Jede Komponente hat eine klare Verantwortung und kommuniziert über definierte Schnittstellen.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Hier sieht man die Architektur auf Service-Ebene: Model, Controller, View, Stream und Spark Analytics.</a:t>
            </a:r>
          </a:p>
          <a:p xmlns:a="http://schemas.openxmlformats.org/drawingml/2006/main">
            <a:r>
              <a:t>Der Model-Service ist für die Schachregeln zuständig und bleibt zustandslos. Dadurch kann er unabhängig genutzt und getestet werden.</a:t>
            </a:r>
          </a:p>
          <a:p xmlns:a="http://schemas.openxmlformats.org/drawingml/2006/main">
            <a:r>
              <a:t>Der Controller hält den Spielzustand, spricht mit MongoDB und ruft das Model per HTTP auf, wenn Züge validiert oder neue Zustände berechnet werden.</a:t>
            </a:r>
          </a:p>
          <a:p xmlns:a="http://schemas.openxmlformats.org/drawingml/2006/main">
            <a:r>
              <a:t>Kafka trennt synchrone Benutzeraktionen von asynchroner Verarbeitung. Events können dadurch von Streaming und Analytics konsumiert werden, ohne die Kernlogik zu vermischen.</a:t>
            </a:r>
          </a:p>
          <a:p xmlns:a="http://schemas.openxmlformats.org/drawingml/2006/main">
            <a:r>
              <a:t>Die wichtigste Aussage dieser Folie: Die Architektur verhindert Duplikation von Schachregeln und hält UI, Streaming und Auswertung sauber getrennt.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Diese Folie zoomt in die wichtigsten Kernkomponenten.</a:t>
            </a:r>
          </a:p>
          <a:p xmlns:a="http://schemas.openxmlformats.org/drawingml/2006/main">
            <a:r>
              <a:t>Der Model-Service prüft alle schachrelevanten Sonderfälle: legale Züge, Schach, Matt, Patt, Rochade, en passant, Promotion und die 50-Züge-Regel.</a:t>
            </a:r>
          </a:p>
          <a:p xmlns:a="http://schemas.openxmlformats.org/drawingml/2006/main">
            <a:r>
              <a:t>Der Stream-Service erlaubt mehrzeilige Schachkommandos und kann denselben Validierungsfluss entweder direkt oder über Kafka verwenden.</a:t>
            </a:r>
          </a:p>
          <a:p xmlns:a="http://schemas.openxmlformats.org/drawingml/2006/main">
            <a:r>
              <a:t>Der Bot ist ein eigener technischer Schwerpunkt: Er nutzt Alpha-Beta beziehungsweise Negamax, Zeitbudget, Move Ordering, Transposition Table und Bewertungsfunktionen.</a:t>
            </a:r>
          </a:p>
          <a:p xmlns:a="http://schemas.openxmlformats.org/drawingml/2006/main">
            <a:r>
              <a:t>Der View-Service kapselt die Weboberfläche, während Console-UI und ScalaFX zeigen, dass die Fachlogik nicht an eine einzige Darstellung gekoppelt 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Web-UI ist über eine linke Reiter-Navigation aufgebaut: Spiel, Notation, Training, Turnier und Statistik.</a:t>
            </a:r>
          </a:p>
          <a:p xmlns:a="http://schemas.openxmlformats.org/drawingml/2006/main">
            <a:r>
              <a:t>Der Browser lädt HTML, CSS und JavaScript aus dem View-Service und sendet Aktionen per REST an den Controller-Service.</a:t>
            </a:r>
          </a:p>
          <a:p xmlns:a="http://schemas.openxmlformats.org/drawingml/2006/main">
            <a:r>
              <a:t>Der Controller entscheidet nicht selbst über Schachregeln, sondern fragt dafür den Model-Service an.</a:t>
            </a:r>
          </a:p>
          <a:p xmlns:a="http://schemas.openxmlformats.org/drawingml/2006/main">
            <a:r>
              <a:t>Dadurch bleibt die Oberfläche austauschbar: Die Web-UI ist nur ein Client der bestehenden Architektur, nicht der Ort der Fachlogik.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Hier werden drei weitere UI-Reiter genauer gezeigt.</a:t>
            </a:r>
          </a:p>
          <a:p xmlns:a="http://schemas.openxmlformats.org/drawingml/2006/main">
            <a:r>
              <a:t>Im Notation-Reiter geht es um FEN und PGN: Eingaben können importiert, exportiert und im Backend validiert oder umgewandelt werden.</a:t>
            </a:r>
          </a:p>
          <a:p xmlns:a="http://schemas.openxmlformats.org/drawingml/2006/main">
            <a:r>
              <a:t>Im Training-Reiter werden Challenge-Stellungen geladen. Der Controller stellt diese als Spielzustand bereit, die Oberfläche zeigt sie nur an.</a:t>
            </a:r>
          </a:p>
          <a:p xmlns:a="http://schemas.openxmlformats.org/drawingml/2006/main">
            <a:r>
              <a:t>Der Turnier-Reiter bindet den NowChess-Turnierserver an. Dafür werden Server, Token und Turnier-ID eingegeben und Streams können gestartet oder gestoppt werden.</a:t>
            </a:r>
          </a:p>
          <a:p xmlns:a="http://schemas.openxmlformats.org/drawingml/2006/main">
            <a:r>
              <a:t>Die gemeinsame Idee: Die UI bietet Bedienung, aber die eigentliche Logik bleibt in den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 Statistik-Reiter zeigt die Streaming-Erweiterung des Projekts.</a:t>
            </a:r>
          </a:p>
          <a:p xmlns:a="http://schemas.openxmlformats.org/drawingml/2006/main">
            <a:r>
              <a:t>Wenn eine Partie abgeschlossen ist, erzeugt der Controller fachliche GameFinished-Events und veröffentlicht sie über Kafka.</a:t>
            </a:r>
          </a:p>
          <a:p xmlns:a="http://schemas.openxmlformats.org/drawingml/2006/main">
            <a:r>
              <a:t>Spark Structured Streaming liest diese Events und aggregiert Statistiken getrennt nach Weiß und Schwarz: Spiele, Siege, Remis, Niederlagen und Punkte.</a:t>
            </a:r>
          </a:p>
          <a:p xmlns:a="http://schemas.openxmlformats.org/drawingml/2006/main">
            <a:r>
              <a:t>Die Ergebnisse werden wieder in MongoDB gespeichert und können anschließend über die Weboberfläche angezeigt werden.</a:t>
            </a:r>
          </a:p>
          <a:p xmlns:a="http://schemas.openxmlformats.org/drawingml/2006/main">
            <a:r>
              <a:t>Damit ist die Statistik kein statischer Platzhalter, sondern eine echte End-to-End-Datenpipeline vom Spielereignis bis zur Bestenliste.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 Bot ist bewusst mehr als ein einfacher Minimax-Demoalgorithmus.</a:t>
            </a:r>
          </a:p>
          <a:p xmlns:a="http://schemas.openxmlformats.org/drawingml/2006/main">
            <a:r>
              <a:t>Der Kern ist Alpha-Beta beziehungsweise Negamax mit iterativer Vertiefung. Das Zeitbudget sorgt dafür, dass der Bot auch praktisch spielbar bleibt.</a:t>
            </a:r>
          </a:p>
          <a:p xmlns:a="http://schemas.openxmlformats.org/drawingml/2006/main">
            <a:r>
              <a:t>Move Ordering und Null-Move-Pruning reduzieren den Suchbaum, sodass vielversprechende Varianten früher geprüft und schwache Äste schneller abgeschnitten werden.</a:t>
            </a:r>
          </a:p>
          <a:p xmlns:a="http://schemas.openxmlformats.org/drawingml/2006/main">
            <a:r>
              <a:t>Über Zobrist-Hashing und eine Transposition Table werden bereits berechnete Stellungen wiederverwendet.</a:t>
            </a:r>
          </a:p>
          <a:p xmlns:a="http://schemas.openxmlformats.org/drawingml/2006/main">
            <a:r>
              <a:t>Die Bewertung kombiniert Material, Piece-Square-Tables, Aktivität, Königssicherheit, Bauernstruktur und Mobilität. Opening Database und optionale Syzygy-Tablebases ergänzen das Ganze.</a:t>
            </a:r>
          </a:p>
          <a:p xmlns:a="http://schemas.openxmlformats.org/drawingml/2006/main">
            <a:r>
              <a:t>Wichtig ist die Integration: Der Bot kann nicht nur lokal rechnen, sondern auch in Lichess- und NowChess-Kontexte eingebunden werden.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Diese Folie zeigt, wie die Suche messbar und nachvollziehbar gemacht wird.</a:t>
            </a:r>
          </a:p>
          <a:p xmlns:a="http://schemas.openxmlformats.org/drawingml/2006/main">
            <a:r>
              <a:t>Die Debug-Ausgabe zeigt pro Suchtiefe den Score, den besten Zug, Anzahl der Nodes, Nodes pro Sekunde, Transposition-Table-Werte und Laufzeit.</a:t>
            </a:r>
          </a:p>
          <a:p xmlns:a="http://schemas.openxmlformats.org/drawingml/2006/main">
            <a:r>
              <a:t>Im Profiling wird sichtbar, welche Teile am meisten Zeit verbrauchen, zum Beispiel Bewertung, Zugausführung oder Legalitätsprüfung.</a:t>
            </a:r>
          </a:p>
          <a:p xmlns:a="http://schemas.openxmlformats.org/drawingml/2006/main">
            <a:r>
              <a:t>Dadurch können Optimierungen gezielt bewertet werden: Mehr Transposition-Table-Hits, bessere Cutoffs oder höhere Nodes pro Sekunde sind direkt sichtbar.</a:t>
            </a:r>
          </a:p>
          <a:p xmlns:a="http://schemas.openxmlformats.org/drawingml/2006/main">
            <a:r>
              <a:t>Außerdem wird die Entscheidung des Bots transparenter, weil man sieht, wie sich bester Zug und Bewertung mit zunehmender Tiefe verändern.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Zum Abschluss der technischen Umsetzung noch ein Hinweis zu den verwendeten KI-Werkzeugen.</a:t>
            </a:r>
          </a:p>
          <a:p xmlns:a="http://schemas.openxmlformats.org/drawingml/2006/main">
            <a:r>
              <a:t>Codex Plus war im Projekt das Haupttool für Code-Generierung, Refactoring, Tests und Architekturentscheidungen.</a:t>
            </a:r>
          </a:p>
          <a:p xmlns:a="http://schemas.openxmlformats.org/drawingml/2006/main">
            <a:r>
              <a:t>In der Anfangsphase wurde zusätzlich Antigravity mit Gemini Pro genutzt, später erfolgte der Wechsel vollständig zu Codex.</a:t>
            </a:r>
          </a:p>
          <a:p xmlns:a="http://schemas.openxmlformats.org/drawingml/2006/main">
            <a:r>
              <a:t>Wichtig ist dabei die Einordnung: Die Architekturentscheidungen wurden nicht blind übernommen, sondern anhand der Projektstruktur, Tests und Anforderungen überprüft.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Damit bin ich am Ende der Präsentation.</a:t>
            </a:r>
          </a:p>
          <a:p xmlns:a="http://schemas.openxmlformats.org/drawingml/2006/main">
            <a:r>
              <a:t>Die zentrale Aussage ist: TiChess ist modular aufgebaut und trennt Regeln, Zustand, Darstellung, Streaming, Bot und Analytics klar voneinander.</a:t>
            </a:r>
          </a:p>
          <a:p xmlns:a="http://schemas.openxmlformats.org/drawingml/2006/main">
            <a:r>
              <a:t>Diese Trennung macht das Projekt testbarer, erweiterbarer und besser nachvollziehbar.</a:t>
            </a:r>
          </a:p>
          <a:p xmlns:a="http://schemas.openxmlformats.org/drawingml/2006/main">
            <a:r>
              <a:t>Vielen Dank fürs Zuhören. Ich beantworte gerne Fragen zur Architektur, zu einzelnen Services oder zum Bot.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64bf0c698a488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b5110f7f54f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e1200c51e942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a43cd96644f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2578e7a254ff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a75554ebd43e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8313129b6414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77293a10246b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4c498ceec840e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757cc60fa403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658121c4046d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EBFB8C-C8F5-4D34-A162-9DABE4F058D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CBD0ED-0284-4DF4-B24A-5B986D0116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DAE261-D5C9-4023-B600-E63CC10204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E904B7-8D11-4E0E-844A-99552B1DE2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A79CEE-957D-42B0-B883-DB649DF8DA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80C757-A251-4360-A069-03469DA21D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99A532-C8AD-4BDF-8869-D7EAB0A08D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5783062-25D2-45F9-A91C-224ECC6CFE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5B9AE9-5954-4B6A-A5EF-04103202D1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23B11F-1C15-4BA3-A9A9-6FAAEC93DE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75625E-7958-4A2F-8F42-6FD115C909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82052D5-0EAA-43A1-B888-FF084B55A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08ED6C-9F67-4930-B988-7580300836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1C7C24-DC21-4B49-A2D4-83413246A5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D8C709-E384-4FB0-B275-138DD24B77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6E448E-5B77-452C-AD43-AC1C96122C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E0DB001-2854-4A67-9C3D-6EC361CC0A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333318-74C7-425C-AE9E-BF471B7B435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EBA83F-E2C7-4C87-945C-A58BACFA48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1923A5F-13E2-449E-8192-EF35E2039E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5559D8B-386E-4C32-8F9C-015FC19E8C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4956D1-83BE-4E2C-9A63-3C1EC404CA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7E48E8-7F17-49B4-AE2D-A7C719722A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8A5451E-1EDD-4840-8DA0-283FDEF090A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0E3A482-D81B-4F54-9C4F-14D17A2008F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DC8FBDA-8B5D-494C-BFF0-1E15BD2A28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01E9332-4DB0-42B4-A31D-ADC2FF207D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039F23F-769C-43EC-A625-03D9A26D32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DD51767-5D05-4B6A-8DE9-0066C967CE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DAEE9B-7ACE-4698-86E2-756645C73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296314B-8953-4E95-81EE-B126C82E3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A1AF638-9C32-40EF-8BD2-9373DAE69B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CA3BDAB-7D7F-4A43-9F7A-57B1C601D3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1E91DBA-3EA0-4654-8E47-296D8C6901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A402042-C032-4FB7-B3F6-8D52C14395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39BECC6-86A3-4E00-AF91-58978E5504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C08DC0-AEF3-4BCA-B9FC-963D5D3F13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8057AB-C3D5-44FD-B582-D315CC3A510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2440436-B1D3-413B-B250-6EFE200CC5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913CD0C-3B35-4417-9A86-D2E7CD75D8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4C4EB67-1894-4015-AC05-B7F9FD568A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BB40D0B-285F-4363-A7D7-3079CAF524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ABCA59-089E-41A4-A1B1-D2FA484325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807AB1E-7710-4DC1-BA9D-6E10C960922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B5AC5FE-2C5A-44BE-8270-0F1352A05E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AC8A18E-C67A-4134-A0DC-0DB7962AF7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6BE8EF9-EE74-4829-B8E8-9799FDEDF7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0B41AC1-4881-4919-B4EF-9EA79CEEC4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159961-1037-4A2D-93A7-9606897F1B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FB1B15E-FC7F-4461-AF04-21526912A1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A9C055-CB38-4BC4-B30A-2587496DE5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AF6372-CB3D-4F25-8F03-6E25AF593E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A40888-5764-4DF8-8C9E-0C74E47B29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7986BC0-2DE8-4224-AEF4-253D49F168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5C887C-D060-4F51-9683-FCF371DEB9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B314F87-3CCB-4EFA-B703-D125C31F06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9B0C1C-9169-483D-9B65-E63CAD34DE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56E8FFA-803E-499C-8501-2738BD1B43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f8767b1caf483c" /><Relationship Type="http://schemas.openxmlformats.org/officeDocument/2006/relationships/slideLayout" Target="/ppt/slideLayouts/slideLayout1.xml" Id="Rbd710ba348f04ae6" /><Relationship Type="http://schemas.openxmlformats.org/officeDocument/2006/relationships/slideLayout" Target="/ppt/slideLayouts/slideLayout2.xml" Id="Re722c240152048d6" /><Relationship Type="http://schemas.openxmlformats.org/officeDocument/2006/relationships/slideLayout" Target="/ppt/slideLayouts/slideLayout3.xml" Id="R61b5cb9cd5d24887" /><Relationship Type="http://schemas.openxmlformats.org/officeDocument/2006/relationships/slideLayout" Target="/ppt/slideLayouts/slideLayout4.xml" Id="R00aed4b802034747" /><Relationship Type="http://schemas.openxmlformats.org/officeDocument/2006/relationships/slideLayout" Target="/ppt/slideLayouts/slideLayout5.xml" Id="Rb47ce845af1d4e81" /><Relationship Type="http://schemas.openxmlformats.org/officeDocument/2006/relationships/slideLayout" Target="/ppt/slideLayouts/slideLayout6.xml" Id="R3b2fa9a2af2c4e4e" /><Relationship Type="http://schemas.openxmlformats.org/officeDocument/2006/relationships/slideLayout" Target="/ppt/slideLayouts/slideLayout7.xml" Id="Rcf9cffed77754afe" /><Relationship Type="http://schemas.openxmlformats.org/officeDocument/2006/relationships/slideLayout" Target="/ppt/slideLayouts/slideLayout8.xml" Id="R69815624369f4808" /><Relationship Type="http://schemas.openxmlformats.org/officeDocument/2006/relationships/slideLayout" Target="/ppt/slideLayouts/slideLayout9.xml" Id="R20c9a1c823c646a0" /><Relationship Type="http://schemas.openxmlformats.org/officeDocument/2006/relationships/slideLayout" Target="/ppt/slideLayouts/slideLayout10.xml" Id="R2f1cc380b27f4337" /><Relationship Type="http://schemas.openxmlformats.org/officeDocument/2006/relationships/slideLayout" Target="/ppt/slideLayouts/slideLayout11.xml" Id="Re696eb7cd37e45d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465193B-A39C-4281-9A76-D6C6E4B33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CECA03-20EE-407A-8FAA-79AFD5D683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45B101-42C8-4A3F-8F30-BC786B6CE41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02EDE4-EC35-42DD-8775-FFF5598B0EA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065724-91DE-4539-825F-9C51D30779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710ba348f04ae6"/>
    <p:sldLayoutId xmlns:r="http://schemas.openxmlformats.org/officeDocument/2006/relationships" id="2147483650" r:id="Re722c240152048d6"/>
    <p:sldLayoutId xmlns:r="http://schemas.openxmlformats.org/officeDocument/2006/relationships" id="2147483651" r:id="R61b5cb9cd5d24887"/>
    <p:sldLayoutId xmlns:r="http://schemas.openxmlformats.org/officeDocument/2006/relationships" id="2147483652" r:id="R00aed4b802034747"/>
    <p:sldLayoutId xmlns:r="http://schemas.openxmlformats.org/officeDocument/2006/relationships" id="2147483653" r:id="Rb47ce845af1d4e81"/>
    <p:sldLayoutId xmlns:r="http://schemas.openxmlformats.org/officeDocument/2006/relationships" id="2147483654" r:id="R3b2fa9a2af2c4e4e"/>
    <p:sldLayoutId xmlns:r="http://schemas.openxmlformats.org/officeDocument/2006/relationships" id="2147483655" r:id="Rcf9cffed77754afe"/>
    <p:sldLayoutId xmlns:r="http://schemas.openxmlformats.org/officeDocument/2006/relationships" id="2147483656" r:id="R69815624369f4808"/>
    <p:sldLayoutId xmlns:r="http://schemas.openxmlformats.org/officeDocument/2006/relationships" id="2147483657" r:id="R20c9a1c823c646a0"/>
    <p:sldLayoutId xmlns:r="http://schemas.openxmlformats.org/officeDocument/2006/relationships" id="2147483658" r:id="R2f1cc380b27f4337"/>
    <p:sldLayoutId xmlns:r="http://schemas.openxmlformats.org/officeDocument/2006/relationships" id="2147483659" r:id="Re696eb7cd37e45d5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e6c4b3341b4ca6" /><Relationship Type="http://schemas.openxmlformats.org/officeDocument/2006/relationships/image" Target="/ppt/media/image.png" Id="R108647786a6b4440" /><Relationship Type="http://schemas.openxmlformats.org/officeDocument/2006/relationships/image" Target="/ppt/media/image.svg" Id="Rb93c4f98cddb40e1" /><Relationship Type="http://schemas.openxmlformats.org/officeDocument/2006/relationships/image" Target="/ppt/media/image2.png" Id="Rb4142b7736154e23" /><Relationship Type="http://schemas.openxmlformats.org/officeDocument/2006/relationships/image" Target="/ppt/media/image2.svg" Id="Rc8c5567fec0e442c" /><Relationship Type="http://schemas.openxmlformats.org/officeDocument/2006/relationships/notesSlide" Target="/ppt/notesSlides/notesSlide1.xml" Id="R72206cee98314f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fd903bd966448f" /><Relationship Type="http://schemas.openxmlformats.org/officeDocument/2006/relationships/image" Target="/ppt/media/image.png" Id="R7c871100bc5e4315" /><Relationship Type="http://schemas.openxmlformats.org/officeDocument/2006/relationships/image" Target="/ppt/media/image.svg" Id="R9549e1966faa495a" /><Relationship Type="http://schemas.openxmlformats.org/officeDocument/2006/relationships/notesSlide" Target="/ppt/notesSlides/notesSlide2.xml" Id="Rf53febab1c5f43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290908b3244b1d" /><Relationship Type="http://schemas.openxmlformats.org/officeDocument/2006/relationships/image" Target="/ppt/media/image.png" Id="R7a9657df0bab4416" /><Relationship Type="http://schemas.openxmlformats.org/officeDocument/2006/relationships/image" Target="/ppt/media/image.svg" Id="Re5961c6c2a7749f7" /><Relationship Type="http://schemas.openxmlformats.org/officeDocument/2006/relationships/notesSlide" Target="/ppt/notesSlides/notesSlide3.xml" Id="R4945747b356b4e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3874e195344606" /><Relationship Type="http://schemas.openxmlformats.org/officeDocument/2006/relationships/image" Target="/ppt/media/image.png" Id="R85e282c2565c4a55" /><Relationship Type="http://schemas.openxmlformats.org/officeDocument/2006/relationships/image" Target="/ppt/media/image.svg" Id="R55839c2565bb4e90" /><Relationship Type="http://schemas.openxmlformats.org/officeDocument/2006/relationships/notesSlide" Target="/ppt/notesSlides/notesSlide4.xml" Id="R2d19b0b015ac45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34b26c98ee4a75" /><Relationship Type="http://schemas.openxmlformats.org/officeDocument/2006/relationships/image" Target="/ppt/media/image.png" Id="Rfbdd9453f75843f0" /><Relationship Type="http://schemas.openxmlformats.org/officeDocument/2006/relationships/image" Target="/ppt/media/image.svg" Id="R8deb7b7b054145c8" /><Relationship Type="http://schemas.openxmlformats.org/officeDocument/2006/relationships/notesSlide" Target="/ppt/notesSlides/notesSlide5.xml" Id="Rc54f3ba662334b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8f6d70c5e8457f" /><Relationship Type="http://schemas.openxmlformats.org/officeDocument/2006/relationships/image" Target="/ppt/media/image.png" Id="Rc3743e534e284926" /><Relationship Type="http://schemas.openxmlformats.org/officeDocument/2006/relationships/image" Target="/ppt/media/image.svg" Id="R8769eb14d4574add" /><Relationship Type="http://schemas.openxmlformats.org/officeDocument/2006/relationships/notesSlide" Target="/ppt/notesSlides/notesSlide6.xml" Id="R063f672d555a4e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612ca3db3f4528" /><Relationship Type="http://schemas.openxmlformats.org/officeDocument/2006/relationships/image" Target="/ppt/media/image.png" Id="Re82c78c6c2634687" /><Relationship Type="http://schemas.openxmlformats.org/officeDocument/2006/relationships/image" Target="/ppt/media/image.svg" Id="R3623e76bf88042b2" /><Relationship Type="http://schemas.openxmlformats.org/officeDocument/2006/relationships/notesSlide" Target="/ppt/notesSlides/notesSlide7.xml" Id="R1df0b9091b334d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7648a49535422f" /><Relationship Type="http://schemas.openxmlformats.org/officeDocument/2006/relationships/image" Target="/ppt/media/image.png" Id="R02fcfd4f29f14712" /><Relationship Type="http://schemas.openxmlformats.org/officeDocument/2006/relationships/image" Target="/ppt/media/image.svg" Id="R971dd28014d6489c" /><Relationship Type="http://schemas.openxmlformats.org/officeDocument/2006/relationships/notesSlide" Target="/ppt/notesSlides/notesSlide8.xml" Id="R59be06b7baa54f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ccfaffc21643c3" /><Relationship Type="http://schemas.openxmlformats.org/officeDocument/2006/relationships/image" Target="/ppt/media/image.png" Id="Rb9c3835a03a242d4" /><Relationship Type="http://schemas.openxmlformats.org/officeDocument/2006/relationships/image" Target="/ppt/media/image.svg" Id="Rb3bbcb98b3914834" /><Relationship Type="http://schemas.openxmlformats.org/officeDocument/2006/relationships/notesSlide" Target="/ppt/notesSlides/notesSlide9.xml" Id="R1d0abaa03ec64f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a48ccbf09a48f8" /><Relationship Type="http://schemas.openxmlformats.org/officeDocument/2006/relationships/image" Target="/ppt/media/image.png" Id="R0806535152b54295" /><Relationship Type="http://schemas.openxmlformats.org/officeDocument/2006/relationships/image" Target="/ppt/media/image.svg" Id="R30803d5a20214459" /><Relationship Type="http://schemas.openxmlformats.org/officeDocument/2006/relationships/notesSlide" Target="/ppt/notesSlides/notesSlide10.xml" Id="Rf94ebf6e74bb47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df1284aabd94581" /><Relationship Type="http://schemas.openxmlformats.org/officeDocument/2006/relationships/image" Target="/ppt/media/image.png" Id="R63690d04306941bd" /><Relationship Type="http://schemas.openxmlformats.org/officeDocument/2006/relationships/image" Target="/ppt/media/image.svg" Id="R5faa95c0f7a44a8c" /><Relationship Type="http://schemas.openxmlformats.org/officeDocument/2006/relationships/notesSlide" Target="/ppt/notesSlides/notesSlide11.xml" Id="R1e810b42632e4b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88890A7-64EA-4191-A527-D1915016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1207" y="371284"/>
            <a:ext cx="1888093" cy="775859"/>
          </a:xfrm>
          <a:custGeom xmlns:a="http://schemas.openxmlformats.org/drawingml/2006/main">
            <a:rect l="l" t="t" r="r" b="b"/>
            <a:pathLst>
              <a:path w="1888093" h="775859">
                <a:moveTo>
                  <a:pt x="0" y="0"/>
                </a:moveTo>
                <a:lnTo>
                  <a:pt x="1888093" y="0"/>
                </a:lnTo>
                <a:lnTo>
                  <a:pt x="1888093" y="775859"/>
                </a:lnTo>
                <a:lnTo>
                  <a:pt x="0" y="7758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08647786a6b4440">
              <a:extLst>
                <a:ext uri="{96DAC541-7B7A-43D3-8B79-37D633B846F1}">
                  <asvg:svgBlip xmlns:asvg="http://schemas.microsoft.com/office/drawing/2016/SVG/main" r:embed="Rb93c4f98cddb40e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5476A92-814A-4855-8504-4F316F0C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0">
            <a:off x="6348555" y="1375801"/>
            <a:ext cx="11930139" cy="8947604"/>
          </a:xfrm>
          <a:custGeom xmlns:a="http://schemas.openxmlformats.org/drawingml/2006/main">
            <a:rect l="l" t="t" r="r" b="b"/>
            <a:pathLst>
              <a:path w="11930139" h="8947604">
                <a:moveTo>
                  <a:pt x="0" y="0"/>
                </a:moveTo>
                <a:lnTo>
                  <a:pt x="11930139" y="0"/>
                </a:lnTo>
                <a:lnTo>
                  <a:pt x="11930139" y="8947604"/>
                </a:lnTo>
                <a:lnTo>
                  <a:pt x="0" y="894760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142b7736154e23">
              <a:extLst>
                <a:ext uri="{96DAC541-7B7A-43D3-8B79-37D633B846F1}">
                  <asvg:svgBlip xmlns:asvg="http://schemas.microsoft.com/office/drawing/2016/SVG/main" r:embed="Rc8c5567fec0e442c"/>
                </a:ext>
              </a:extLst>
            </a:blip>
            <a:stretch>
              <a:fillRect l="0" t="-66" r="0" b="-66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0302670-8D35-4FF9-83BD-9D07027E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285" y="-561975"/>
            <a:ext cx="10511390" cy="55964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267"/>
              </a:lnSpc>
              <a:buNone/>
            </a:pPr>
            <a:r>
              <a:rPr sz="15190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SOFTWARE</a:t>
            </a:r>
          </a:p>
          <a:p xmlns:a="http://schemas.openxmlformats.org/drawingml/2006/main">
            <a:pPr algn="l">
              <a:lnSpc>
                <a:spcPts val="21267"/>
              </a:lnSpc>
              <a:buNone/>
            </a:pPr>
            <a:r>
              <a:rPr sz="15190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ARCHITEKTUR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2BBC14A-DF92-45A0-BD5A-F75308AE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285" y="9345959"/>
            <a:ext cx="2905620" cy="453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7"/>
              </a:lnSpc>
              <a:buNone/>
            </a:pPr>
            <a:r>
              <a:rPr sz="2398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Tim Brutscher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65EAF0A-593A-4011-A722-CBE39C42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1207" y="9345959"/>
            <a:ext cx="1888093" cy="453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357"/>
              </a:lnSpc>
              <a:buNone/>
            </a:pPr>
            <a:r>
              <a:rPr sz="2398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2026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4DBE2D08-9B5E-425F-97EF-BE0734B4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968" y="575310"/>
            <a:ext cx="1444581" cy="453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57"/>
              </a:lnSpc>
              <a:buNone/>
            </a:pPr>
            <a:r>
              <a:rPr sz="2398" b="1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</a:rPr>
              <a:t>Slide 01</a:t>
            </a:r>
          </a:p>
        </p:txBody>
      </p:sp>
    </p:spTree>
    <p:extLst>
      <p:ext uri="{BB962C8B-B14F-4D97-AF65-F5344CB8AC3E}">
        <p14:creationId xmlns:p14="http://schemas.microsoft.com/office/powerpoint/2010/main" val="1844770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0F5F2AB-3C94-44F4-8FF5-1CB102DB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1207" y="371284"/>
            <a:ext cx="1888093" cy="775859"/>
          </a:xfrm>
          <a:custGeom xmlns:a="http://schemas.openxmlformats.org/drawingml/2006/main">
            <a:rect l="l" t="t" r="r" b="b"/>
            <a:pathLst>
              <a:path w="1888093" h="775859">
                <a:moveTo>
                  <a:pt x="0" y="0"/>
                </a:moveTo>
                <a:lnTo>
                  <a:pt x="1888093" y="0"/>
                </a:lnTo>
                <a:lnTo>
                  <a:pt x="1888093" y="775859"/>
                </a:lnTo>
                <a:lnTo>
                  <a:pt x="0" y="7758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c871100bc5e4315">
              <a:extLst>
                <a:ext uri="{96DAC541-7B7A-43D3-8B79-37D633B846F1}">
                  <asvg:svgBlip xmlns:asvg="http://schemas.microsoft.com/office/drawing/2016/SVG/main" r:embed="R9549e1966faa495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87AFF1A-9EB9-4E7D-AB82-1431E69C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0661" y="2401700"/>
            <a:ext cx="8922125" cy="1826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7199"/>
              </a:lnSpc>
              <a:buNone/>
            </a:pPr>
            <a:r>
              <a:rPr sz="19110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PROJEKTÜBERBLICK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2232D0C-3F90-4079-9C03-F3250EBF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9344025"/>
            <a:ext cx="2914650" cy="453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8"/>
              </a:lnSpc>
              <a:buNone/>
            </a:pPr>
            <a:r>
              <a:rPr sz="2400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Tim Brutscher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CF4CDD7-95E6-4172-AD86-4B524598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3350" y="9344025"/>
            <a:ext cx="1895475" cy="453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358"/>
              </a:lnSpc>
              <a:buNone/>
            </a:pPr>
            <a:r>
              <a:rPr sz="2400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2026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588EE5-6140-42A6-BC1D-815E965E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968" y="575310"/>
            <a:ext cx="1444581" cy="453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57"/>
              </a:lnSpc>
              <a:buNone/>
            </a:pPr>
            <a:r>
              <a:rPr sz="2398" b="1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</a:rPr>
              <a:t>Slide 02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07268F-3606-4B84-95CC-92F0C4A1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0661" y="4190190"/>
            <a:ext cx="9378639" cy="19729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76"/>
              </a:lnSpc>
              <a:buNone/>
            </a:pPr>
            <a:r>
              <a:rPr sz="2197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TiChess ist ein Schachprojekt in Scala 3.3.4. Es kombiniert vollständige Schachlogik, FEN/PGN-Unterstützung, mehrere Oberflächen und einen Docker-/Kubernetes-fähigen Service-Stack. Die Architektur trennt Fachlogik, Spielzustand, Darstellung, Streaming und Analytics klar voneinander.</a:t>
            </a:r>
          </a:p>
        </p:txBody>
      </p:sp>
    </p:spTree>
    <p:extLst>
      <p:ext uri="{BB962C8B-B14F-4D97-AF65-F5344CB8AC3E}">
        <p14:creationId xmlns:p14="http://schemas.microsoft.com/office/powerpoint/2010/main" val="2063980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DEEBEB5-2E1F-49F2-AAA1-A930795A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1207" y="371284"/>
            <a:ext cx="1888093" cy="775859"/>
          </a:xfrm>
          <a:custGeom xmlns:a="http://schemas.openxmlformats.org/drawingml/2006/main">
            <a:rect l="l" t="t" r="r" b="b"/>
            <a:pathLst>
              <a:path w="1888093" h="775859">
                <a:moveTo>
                  <a:pt x="0" y="0"/>
                </a:moveTo>
                <a:lnTo>
                  <a:pt x="1888093" y="0"/>
                </a:lnTo>
                <a:lnTo>
                  <a:pt x="1888093" y="775859"/>
                </a:lnTo>
                <a:lnTo>
                  <a:pt x="0" y="7758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a9657df0bab4416">
              <a:extLst>
                <a:ext uri="{96DAC541-7B7A-43D3-8B79-37D633B846F1}">
                  <asvg:svgBlip xmlns:asvg="http://schemas.microsoft.com/office/drawing/2016/SVG/main" r:embed="Re5961c6c2a7749f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D6D2B6B-3194-4A59-A6CF-33E2054E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381250"/>
            <a:ext cx="5767740" cy="31785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4297"/>
              </a:lnSpc>
              <a:buNone/>
            </a:pPr>
            <a:r>
              <a:rPr sz="17871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ARCHITEKTUR-</a:t>
            </a:r>
          </a:p>
          <a:p xmlns:a="http://schemas.openxmlformats.org/drawingml/2006/main">
            <a:pPr algn="l">
              <a:lnSpc>
                <a:spcPts val="14297"/>
              </a:lnSpc>
              <a:buNone/>
            </a:pPr>
            <a:r>
              <a:rPr sz="17871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ÜBERSICHT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5CD1751-3EE7-49D4-8A69-2B67211C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9344025"/>
            <a:ext cx="2914650" cy="453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8"/>
              </a:lnSpc>
              <a:buNone/>
            </a:pPr>
            <a:r>
              <a:rPr sz="2400" b="1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</a:rPr>
              <a:t>Tim Brutscher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349A035-A435-405E-B729-638566C7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3350" y="9344025"/>
            <a:ext cx="1895475" cy="453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358"/>
              </a:lnSpc>
              <a:buNone/>
            </a:pPr>
            <a:r>
              <a:rPr sz="2400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2026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0D0946C-6258-4552-8A55-1B43583F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968" y="594360"/>
            <a:ext cx="1444581" cy="418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199"/>
              </a:lnSpc>
              <a:buNone/>
            </a:pPr>
            <a:r>
              <a:rPr sz="2285" b="1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</a:rPr>
              <a:t>Slide 03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89E2B77-70A4-4F74-ABBE-D6E0E662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2004508"/>
            <a:ext cx="9713966" cy="11564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31"/>
              </a:lnSpc>
              <a:buNone/>
            </a:pPr>
            <a:r>
              <a:rPr sz="2094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Die Docker-Anwendung ist in fünf Services gegliedert: model-service für Regeln, controller-service für Zustand und Persistenz, view-service für die Weboberfläche, stream-service für DSL/Kafka-Verarbeitung und spark-analytics für Bestenlisten.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B71B9E9-0E40-44BF-B8C6-7CB71D25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1551118"/>
            <a:ext cx="7644279" cy="453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7"/>
              </a:lnSpc>
              <a:buNone/>
            </a:pPr>
            <a:r>
              <a:rPr sz="2398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SERVICE-ARCHITEKTUR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26C31F6-4BE0-424B-A9E0-E6ECA90B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7810719"/>
            <a:ext cx="9713966" cy="11564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31"/>
              </a:lnSpc>
              <a:buNone/>
            </a:pPr>
            <a:r>
              <a:rPr sz="2094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Die Servicegrenzen verhindern, dass Streaming, UI oder Analytics Schachregeln duplizieren. Der Controller ruft das Model per HTTP auf, publiziert fachliche Game-Events nach Kafka und lädt bzw. speichert Spielzustände über MongoDB.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C513AEE-C20A-4B32-9286-E67D180E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7357329"/>
            <a:ext cx="7644279" cy="453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7"/>
              </a:lnSpc>
              <a:buNone/>
            </a:pPr>
            <a:r>
              <a:rPr sz="2398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ARCHITEKTURPRINZIPIEN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B02187D-0669-40B1-B47C-CF9F7333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3932558"/>
            <a:ext cx="9713966" cy="11564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31"/>
              </a:lnSpc>
              <a:buNone/>
            </a:pPr>
            <a:r>
              <a:rPr sz="2094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Zusätzliche Pfade docken über Schnittstellen an: Akka Streams verarbeitet eine externe Schach-DSL, Kafka transportiert Kommandos und Events, Spark Structured Streaming aggregiert abgeschlossene Partien zu White/Black-Statistiken.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CA48AE2-2854-4B48-9514-7455D872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3479168"/>
            <a:ext cx="7644279" cy="453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7"/>
              </a:lnSpc>
              <a:buNone/>
            </a:pPr>
            <a:r>
              <a:rPr sz="2398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MODULSTRUKTUR &amp; BEZIEHUNGEN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071DCB6-5EA2-4025-BC65-607E19D4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5871639"/>
            <a:ext cx="9713966" cy="11564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31"/>
              </a:lnSpc>
              <a:buNone/>
            </a:pPr>
            <a:r>
              <a:rPr sz="2094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Technologien: Scala 3.3.4, Akka HTTP, Akka Streams, Alpakka Kafka, Spark SQL/Structured Streaming, MongoDB, Slick/PostgreSQL/H2, ScalaFX, Docker Compose, Kubernetes/k3d, Gatling und JMH.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C01DFE4-E99A-4E7F-9012-3318C8A3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5418249"/>
            <a:ext cx="7644279" cy="453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7"/>
              </a:lnSpc>
              <a:buNone/>
            </a:pPr>
            <a:r>
              <a:rPr sz="2398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VERWENDETE TECHNOLOGIEN</a:t>
            </a:r>
          </a:p>
        </p:txBody>
      </p:sp>
    </p:spTree>
    <p:extLst>
      <p:ext uri="{BB962C8B-B14F-4D97-AF65-F5344CB8AC3E}">
        <p14:creationId xmlns:p14="http://schemas.microsoft.com/office/powerpoint/2010/main" val="1505133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B61AFD6-CC18-4E38-AE09-780B606E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1207" y="371284"/>
            <a:ext cx="1888093" cy="775859"/>
          </a:xfrm>
          <a:custGeom xmlns:a="http://schemas.openxmlformats.org/drawingml/2006/main">
            <a:rect l="l" t="t" r="r" b="b"/>
            <a:pathLst>
              <a:path w="1888093" h="775859">
                <a:moveTo>
                  <a:pt x="0" y="0"/>
                </a:moveTo>
                <a:lnTo>
                  <a:pt x="1888093" y="0"/>
                </a:lnTo>
                <a:lnTo>
                  <a:pt x="1888093" y="775859"/>
                </a:lnTo>
                <a:lnTo>
                  <a:pt x="0" y="7758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e282c2565c4a55">
              <a:extLst>
                <a:ext uri="{96DAC541-7B7A-43D3-8B79-37D633B846F1}">
                  <asvg:svgBlip xmlns:asvg="http://schemas.microsoft.com/office/drawing/2016/SVG/main" r:embed="R55839c2565bb4e9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36C50990-EFFD-41A9-A8B2-A61DE1EA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209800"/>
            <a:ext cx="5767740" cy="4424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2624"/>
              </a:lnSpc>
              <a:buNone/>
            </a:pPr>
            <a:r>
              <a:rPr sz="15781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KERN-</a:t>
            </a:r>
          </a:p>
          <a:p xmlns:a="http://schemas.openxmlformats.org/drawingml/2006/main">
            <a:pPr algn="l">
              <a:lnSpc>
                <a:spcPts val="12624"/>
              </a:lnSpc>
              <a:buNone/>
            </a:pPr>
            <a:r>
              <a:rPr sz="15781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KOMPO-</a:t>
            </a:r>
          </a:p>
          <a:p xmlns:a="http://schemas.openxmlformats.org/drawingml/2006/main">
            <a:pPr algn="l">
              <a:lnSpc>
                <a:spcPts val="12624"/>
              </a:lnSpc>
              <a:buNone/>
            </a:pPr>
            <a:r>
              <a:rPr sz="15781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NENTEN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B32D8DA-3111-41A7-A236-ADC39006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9344025"/>
            <a:ext cx="2914650" cy="453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8"/>
              </a:lnSpc>
              <a:buNone/>
            </a:pPr>
            <a:r>
              <a:rPr sz="2400" b="1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</a:rPr>
              <a:t>Tim Brutscher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ABD8780-F183-41BE-A787-4A05BFFF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3350" y="9344025"/>
            <a:ext cx="1895475" cy="453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358"/>
              </a:lnSpc>
              <a:buNone/>
            </a:pPr>
            <a:r>
              <a:rPr sz="2400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2026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DC75FC8-426A-429E-8742-4519E2BC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968" y="575310"/>
            <a:ext cx="1444581" cy="453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57"/>
              </a:lnSpc>
              <a:buNone/>
            </a:pPr>
            <a:r>
              <a:rPr sz="2398" b="1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</a:rPr>
              <a:t>Slide 04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FBE03AB-56A2-4652-9D73-893FD0C7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2023558"/>
            <a:ext cx="9713966" cy="1191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76"/>
              </a:lnSpc>
              <a:buNone/>
            </a:pPr>
            <a:r>
              <a:rPr sz="2197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Model-Service und Domänenmodell prüfen legale Züge, Schach, Matt, Patt, Rochade, en passant, Promotion und 50-Züge-Regel. Der Service arbeitet zustandslos auf Basis von FEN und gibt neue Spielzustände zurück.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5189EC2-DBA4-405F-977F-0B1DBF20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1551118"/>
            <a:ext cx="7644279" cy="453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7"/>
              </a:lnSpc>
              <a:buNone/>
            </a:pPr>
            <a:r>
              <a:rPr sz="2398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MODEL-SERVICE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BE8B8DC-6395-469C-9C79-9B06BC16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7829769"/>
            <a:ext cx="9713966" cy="1191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76"/>
              </a:lnSpc>
              <a:buNone/>
            </a:pPr>
            <a:r>
              <a:rPr sz="2197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Stream-Service verarbeitet mehrzeilige Schachkommandos per Akka Streams. Derselbe Validierungsfluss kann direkt per HTTP laufen oder über Kafka Topics tichess.commands und tichess.events.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FABFC73-7F32-4156-9C0A-0C1F5D5F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7357329"/>
            <a:ext cx="7644279" cy="453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7"/>
              </a:lnSpc>
              <a:buNone/>
            </a:pPr>
            <a:r>
              <a:rPr sz="2398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STREAMING &amp; KAFKA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6B7181AE-A384-43BE-801B-3260B13A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3951608"/>
            <a:ext cx="9713966" cy="1191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76"/>
              </a:lnSpc>
              <a:buNone/>
            </a:pPr>
            <a:r>
              <a:rPr sz="2197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Der Bot nutzt Alpha-Beta/Negamax mit Zeitbudget, Move Ordering, Transposition Table über Zobrist-Hash, Opening Database, Pesto-Bewertung und optional Syzygy-Endspiel-Tablebases.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2296327-D70F-42FC-AA6F-96CCBD2E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3479168"/>
            <a:ext cx="7644279" cy="453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7"/>
              </a:lnSpc>
              <a:buNone/>
            </a:pPr>
            <a:r>
              <a:rPr sz="2398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SCHACH-BOT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5BF1284-94B6-41B0-9F20-E2889E4C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5890689"/>
            <a:ext cx="9713966" cy="1191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76"/>
              </a:lnSpc>
              <a:buNone/>
            </a:pPr>
            <a:r>
              <a:rPr sz="2197" b="1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View-Service liefert die Weboberfläche aus und kommuniziert per HTTP mit dem Controller. Zusätzlich existieren Console-UI und lokale ScalaFX-GUI als alternative Bedienoberflächen.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C9C357E-57B1-43F3-82BF-1EFB2C13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5334" y="5418249"/>
            <a:ext cx="7644279" cy="453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7"/>
              </a:lnSpc>
              <a:buNone/>
            </a:pPr>
            <a:r>
              <a:rPr sz="2398" b="1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VIEW-SERVICE</a:t>
            </a:r>
          </a:p>
        </p:txBody>
      </p:sp>
    </p:spTree>
    <p:extLst>
      <p:ext uri="{BB962C8B-B14F-4D97-AF65-F5344CB8AC3E}">
        <p14:creationId xmlns:p14="http://schemas.microsoft.com/office/powerpoint/2010/main" val="1596014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F0048FA-4F88-4E7B-9ADC-2E80B292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581150"/>
            <a:ext cx="2695994" cy="1700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1876"/>
              </a:lnSpc>
              <a:spcBef>
                <a:spcPts val="0"/>
              </a:spcBef>
              <a:buNone/>
            </a:pPr>
            <a:r>
              <a:rPr sz="14845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WEB-UI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5869C45-93DC-43F2-A387-AE2AEFAF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87958"/>
            <a:ext cx="6751319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REITER-NAVIGATION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9D40452-8DEE-4776-AA6F-DEA025F8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554683"/>
            <a:ext cx="6901348" cy="7632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79"/>
              </a:lnSpc>
              <a:spcBef>
                <a:spcPts val="0"/>
              </a:spcBef>
              <a:buNone/>
            </a:pPr>
            <a:r>
              <a:rPr sz="2199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Die Oberflaeche ist ueber eine linke Reiter-Navigation organisiert: Spiel, Notation, Training, Turnier, Statistik.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7C8DAE8-4607-428F-83CB-92383A25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012008"/>
            <a:ext cx="6751319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TECHNISCHE ARCHITEKTUR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558D249-3A85-4681-84D7-248AC172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474923"/>
            <a:ext cx="6901348" cy="154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79"/>
              </a:lnSpc>
              <a:spcBef>
                <a:spcPts val="0"/>
              </a:spcBef>
              <a:buNone/>
            </a:pPr>
            <a:r>
              <a:rPr sz="2199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view-service liefert HTML, CSS, JS aus. Browser sendet Kommandos per REST an controller-service. Controller verwaltet Spielzustand, Persistenz und ruft model-service fuer Regeln/Zuege auf.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8666B1B-B1E9-4ABE-9C1B-62931397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425" y="571500"/>
            <a:ext cx="14478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Slide 06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63C1D92-F816-4907-B12E-45C01DD5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9344025"/>
            <a:ext cx="291465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Tim Brutscher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07897F6-398D-491D-A6DF-FF85C9E4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3350" y="9344025"/>
            <a:ext cx="1895475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2026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7782AB20-3CEA-4E27-80B2-3B320B8D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1207" y="371284"/>
            <a:ext cx="1888093" cy="775859"/>
          </a:xfrm>
          <a:custGeom xmlns:a="http://schemas.openxmlformats.org/drawingml/2006/main">
            <a:rect l="l" t="t" r="r" b="b"/>
            <a:pathLst>
              <a:path w="1888093" h="775859">
                <a:moveTo>
                  <a:pt x="0" y="0"/>
                </a:moveTo>
                <a:lnTo>
                  <a:pt x="1888093" y="0"/>
                </a:lnTo>
                <a:lnTo>
                  <a:pt x="1888093" y="775859"/>
                </a:lnTo>
                <a:lnTo>
                  <a:pt x="0" y="7758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dd9453f75843f0">
              <a:extLst>
                <a:ext uri="{96DAC541-7B7A-43D3-8B79-37D633B846F1}">
                  <asvg:svgBlip xmlns:asvg="http://schemas.microsoft.com/office/drawing/2016/SVG/main" r:embed="R8deb7b7b054145c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CC62F90-A81E-4771-9C70-473F4AD4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968" y="575310"/>
            <a:ext cx="1444581" cy="405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57"/>
              </a:lnSpc>
              <a:buNone/>
            </a:pPr>
            <a:r>
              <a:rPr sz="2398" b="1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</a:rPr>
              <a:t>Slide 05</a:t>
            </a:r>
          </a:p>
        </p:txBody>
      </p:sp>
    </p:spTree>
    <p:extLst>
      <p:ext uri="{BB962C8B-B14F-4D97-AF65-F5344CB8AC3E}">
        <p14:creationId xmlns:p14="http://schemas.microsoft.com/office/powerpoint/2010/main" val="8635178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BCA7F59-44B9-473C-8013-9C3C839A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425" y="571500"/>
            <a:ext cx="14478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Slide 07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1E06FCCA-A149-47AC-9E9A-57481D5B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1207" y="371284"/>
            <a:ext cx="1888093" cy="775859"/>
          </a:xfrm>
          <a:custGeom xmlns:a="http://schemas.openxmlformats.org/drawingml/2006/main">
            <a:rect l="l" t="t" r="r" b="b"/>
            <a:pathLst>
              <a:path w="1888093" h="775859">
                <a:moveTo>
                  <a:pt x="0" y="0"/>
                </a:moveTo>
                <a:lnTo>
                  <a:pt x="1888093" y="0"/>
                </a:lnTo>
                <a:lnTo>
                  <a:pt x="1888093" y="775859"/>
                </a:lnTo>
                <a:lnTo>
                  <a:pt x="0" y="7758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3743e534e284926">
              <a:extLst>
                <a:ext uri="{96DAC541-7B7A-43D3-8B79-37D633B846F1}">
                  <asvg:svgBlip xmlns:asvg="http://schemas.microsoft.com/office/drawing/2016/SVG/main" r:embed="R8769eb14d4574ad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B562B22C-D863-44A7-B242-C69E1B51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62000"/>
            <a:ext cx="13335000" cy="645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4679"/>
              </a:lnSpc>
              <a:spcBef>
                <a:spcPts val="0"/>
              </a:spcBef>
              <a:buNone/>
            </a:pPr>
            <a:r>
              <a:rPr sz="5199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REITER: NOTATION, TRAINING, TURNIER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5DBAB18-1749-4B10-B5A9-7222D6CE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6244590"/>
            <a:ext cx="5334000" cy="372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79"/>
              </a:lnSpc>
              <a:spcBef>
                <a:spcPts val="0"/>
              </a:spcBef>
              <a:buNone/>
            </a:pPr>
            <a:r>
              <a:rPr sz="2199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NOTATION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4F67159-AE33-47AE-949F-CCB88B7B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1369695"/>
            <a:ext cx="5334000" cy="372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79"/>
              </a:lnSpc>
              <a:spcBef>
                <a:spcPts val="0"/>
              </a:spcBef>
              <a:buNone/>
            </a:pPr>
            <a:r>
              <a:rPr sz="2199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TRAINING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0544B92-C132-4B5B-9166-BAD959A0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4825" y="3744277"/>
            <a:ext cx="5334000" cy="3727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79"/>
              </a:lnSpc>
              <a:spcBef>
                <a:spcPts val="0"/>
              </a:spcBef>
              <a:buNone/>
            </a:pPr>
            <a:r>
              <a:rPr sz="2199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TURNIER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FDE25F1-343C-45B7-8166-8E064BEA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6587490"/>
            <a:ext cx="5334000" cy="1249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Parser-Auswahl (z. B. fastparse), FEN/PGN-Eingabefeld, Export/Import-Buttons. Validierung und Umwandlung laufen im Backend ueber controller-service und Parser.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879F56D-E367-4133-822C-377969A9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25300" y="1712595"/>
            <a:ext cx="5334000" cy="1249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Challenge-Stellung auf dem Brett, Status-Anzeige, Buttons Random Challenge und Hinweis. Controller laedt Challenge-Stellungen und uebergibt sie als Spielzustand.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CD508B21-89AE-4EC3-92C1-9CE67051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4825" y="4087177"/>
            <a:ext cx="5334000" cy="1249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Eingaben fuer Server, Token, Turnier-ID. Buttons: Aktualisieren, Turnier verfolgen, Streams stoppen. Anbindung an NowChess-Turnierserver fuer Turnier-/Spielstreams.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A836144-8FA9-4D62-BA35-673B52E6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9344025"/>
            <a:ext cx="291465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Tim Brutscher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570D61B8-90DE-4509-AFD4-E5BFE7A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3350" y="9344025"/>
            <a:ext cx="1895475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2026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691F5A21-6B9B-49D9-9D9D-5EF8B77E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968" y="575310"/>
            <a:ext cx="1444581" cy="405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57"/>
              </a:lnSpc>
              <a:buNone/>
            </a:pPr>
            <a:r>
              <a:rPr sz="2398" b="1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</a:rPr>
              <a:t>Slide 06</a:t>
            </a:r>
          </a:p>
        </p:txBody>
      </p:sp>
    </p:spTree>
    <p:extLst>
      <p:ext uri="{BB962C8B-B14F-4D97-AF65-F5344CB8AC3E}">
        <p14:creationId xmlns:p14="http://schemas.microsoft.com/office/powerpoint/2010/main" val="637836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E6B9DC2-A7FE-4302-AB3D-0DD777A1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425" y="571500"/>
            <a:ext cx="14478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Slide 08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72E6E3C-1207-4BDA-A5D7-1E0CE5C3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1207" y="371284"/>
            <a:ext cx="1888093" cy="775859"/>
          </a:xfrm>
          <a:custGeom xmlns:a="http://schemas.openxmlformats.org/drawingml/2006/main">
            <a:rect l="l" t="t" r="r" b="b"/>
            <a:pathLst>
              <a:path w="1888093" h="775859">
                <a:moveTo>
                  <a:pt x="0" y="0"/>
                </a:moveTo>
                <a:lnTo>
                  <a:pt x="1888093" y="0"/>
                </a:lnTo>
                <a:lnTo>
                  <a:pt x="1888093" y="775859"/>
                </a:lnTo>
                <a:lnTo>
                  <a:pt x="0" y="7758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82c78c6c2634687">
              <a:extLst>
                <a:ext uri="{96DAC541-7B7A-43D3-8B79-37D633B846F1}">
                  <asvg:svgBlip xmlns:asvg="http://schemas.microsoft.com/office/drawing/2016/SVG/main" r:embed="R3623e76bf88042b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8CC16DD-6016-4DDA-951B-54F9D0D1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62000"/>
            <a:ext cx="13335000" cy="645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4679"/>
              </a:lnSpc>
              <a:spcBef>
                <a:spcPts val="0"/>
              </a:spcBef>
              <a:buNone/>
            </a:pPr>
            <a:r>
              <a:rPr sz="5199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REITER: STATISTIK MIT SPARK ANALYTICS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64BE3D1-1315-4EF2-9C9B-389D4385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549400"/>
            <a:ext cx="83820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DATENPIPELINE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4C75392-B6B1-4881-95DC-FE1D10C4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949450"/>
            <a:ext cx="8382000" cy="2947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8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1. controller-service erzeugt fachliche Game-Events.</a:t>
            </a:r>
          </a:p>
          <a:p xmlns:a="http://schemas.openxmlformats.org/drawingml/2006/main">
            <a:pPr marL="0" indent="0" algn="l">
              <a:lnSpc>
                <a:spcPts val="288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2. Abgeschlossene Partien werden als GameFinished-Events nach Kafka publiziert.</a:t>
            </a:r>
          </a:p>
          <a:p xmlns:a="http://schemas.openxmlformats.org/drawingml/2006/main">
            <a:pPr marL="0" indent="0" algn="l">
              <a:lnSpc>
                <a:spcPts val="288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3. spark-analytics liest Events mit Spark Structured Streaming.</a:t>
            </a:r>
          </a:p>
          <a:p xmlns:a="http://schemas.openxmlformats.org/drawingml/2006/main">
            <a:pPr marL="0" indent="0" algn="l">
              <a:lnSpc>
                <a:spcPts val="288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4. Spark aggregiert White/Black-Statistiken: Spiele, Siege, Remis, Niederlagen, Punkte.</a:t>
            </a:r>
          </a:p>
          <a:p xmlns:a="http://schemas.openxmlformats.org/drawingml/2006/main">
            <a:pPr marL="0" indent="0" algn="l">
              <a:lnSpc>
                <a:spcPts val="288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5. Ergebnisse werden in MongoDB gespeichert.</a:t>
            </a:r>
          </a:p>
          <a:p xmlns:a="http://schemas.openxmlformats.org/drawingml/2006/main">
            <a:pPr marL="0" indent="0" algn="l">
              <a:lnSpc>
                <a:spcPts val="288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6. Web-UI liest Bestenliste ueber Controller/View-REST-Endpunkte.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97FEA2C-72FB-48B6-B8B7-B356A361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549400"/>
            <a:ext cx="83820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KERNAUSSAGE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B7F06EC8-3CED-48EE-A0C1-9B2D889B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1968500"/>
            <a:ext cx="8382000" cy="701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spcBef>
                <a:spcPts val="0"/>
              </a:spcBef>
              <a:buNone/>
            </a:pPr>
            <a:r>
              <a:rPr sz="20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Der Statistik-Reiter ist kein statischer Dummy, sondern zeigt eine echte Streaming-/Analytics-Erweiterung des Projekts.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7E65EB9-EB80-4143-91E5-12D6E8AD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1844" y="9839911"/>
            <a:ext cx="9525000" cy="34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spcBef>
                <a:spcPts val="0"/>
              </a:spcBef>
              <a:buNone/>
            </a:pPr>
            <a:r>
              <a:rPr sz="20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BESTENLISTE: Farbe | Spiele | Siege | Remis | Niederlagen | Punkte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16E7F39-72F7-488B-A891-B2789294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9344025"/>
            <a:ext cx="291465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Tim Brutscher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CC250331-75E0-460E-97A0-48824D7E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3350" y="9344025"/>
            <a:ext cx="1895475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2026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D228726-208E-4A53-A53E-1FD98956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968" y="575310"/>
            <a:ext cx="1444581" cy="405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57"/>
              </a:lnSpc>
              <a:buNone/>
            </a:pPr>
            <a:r>
              <a:rPr sz="2398" b="1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</a:rPr>
              <a:t>Slide 07</a:t>
            </a:r>
          </a:p>
        </p:txBody>
      </p:sp>
    </p:spTree>
    <p:extLst>
      <p:ext uri="{BB962C8B-B14F-4D97-AF65-F5344CB8AC3E}">
        <p14:creationId xmlns:p14="http://schemas.microsoft.com/office/powerpoint/2010/main" val="601098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859D51C-0C98-479D-AD82-EAEF084A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000250"/>
            <a:ext cx="5772150" cy="41655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7999"/>
              </a:lnSpc>
              <a:spcBef>
                <a:spcPts val="0"/>
              </a:spcBef>
              <a:buNone/>
            </a:pPr>
            <a:r>
              <a:rPr sz="9999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SCHACH-</a:t>
            </a:r>
          </a:p>
          <a:p xmlns:a="http://schemas.openxmlformats.org/drawingml/2006/main">
            <a:pPr marL="0" indent="0" algn="l">
              <a:lnSpc>
                <a:spcPts val="7999"/>
              </a:lnSpc>
              <a:spcBef>
                <a:spcPts val="0"/>
              </a:spcBef>
              <a:buNone/>
            </a:pPr>
            <a:r>
              <a:rPr sz="9999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BOT:</a:t>
            </a:r>
          </a:p>
          <a:p xmlns:a="http://schemas.openxmlformats.org/drawingml/2006/main">
            <a:pPr marL="0" indent="0" algn="l">
              <a:lnSpc>
                <a:spcPts val="7999"/>
              </a:lnSpc>
              <a:spcBef>
                <a:spcPts val="0"/>
              </a:spcBef>
              <a:buNone/>
            </a:pPr>
            <a:r>
              <a:rPr sz="9999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MEHR ALS</a:t>
            </a:r>
          </a:p>
          <a:p xmlns:a="http://schemas.openxmlformats.org/drawingml/2006/main">
            <a:pPr marL="0" indent="0" algn="l">
              <a:lnSpc>
                <a:spcPts val="7999"/>
              </a:lnSpc>
              <a:spcBef>
                <a:spcPts val="0"/>
              </a:spcBef>
              <a:buNone/>
            </a:pPr>
            <a:r>
              <a:rPr sz="9999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MINIMAX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97C5946C-9C15-42B5-BF86-4228CDD4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1552575"/>
            <a:ext cx="97155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KERNALGORITHMUS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91EFAD4-4214-4568-B3FA-BEE47915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2019300"/>
            <a:ext cx="9715500" cy="1153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79"/>
              </a:lnSpc>
              <a:spcBef>
                <a:spcPts val="0"/>
              </a:spcBef>
              <a:buNone/>
            </a:pPr>
            <a:r>
              <a:rPr sz="2199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Alpha-Beta/Negamax mit iterativer Vertiefung und Zeitbudget. Move Ordering priorisiert vielversprechende Zuege. Null-Move-Pruning schneidet Suchaeaste frueh ab.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5DB58D8-538B-42F1-B0CE-7642CB2A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3476625"/>
            <a:ext cx="97155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TRANSPOSITION TABLE &amp; ZOBRIST-HASH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EAF9B96-9A2B-4526-9F6E-5CD36E92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3943350"/>
            <a:ext cx="9715500" cy="1153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79"/>
              </a:lnSpc>
              <a:spcBef>
                <a:spcPts val="0"/>
              </a:spcBef>
              <a:buNone/>
            </a:pPr>
            <a:r>
              <a:rPr sz="2199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Bereits berechnete Stellungen werden ueber Zobrist-Hash in einer Transposition Table gespeichert und wiederverwendet. Das spart redundante Sucharbeit.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BD220D07-C28F-4CA9-86F9-CA815B2C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5229225"/>
            <a:ext cx="97155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BEWERTUNG &amp; EROEFFNUNG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D5129EB-1B2D-44E7-81E8-CAE78D72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5695950"/>
            <a:ext cx="9715500" cy="1153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79"/>
              </a:lnSpc>
              <a:spcBef>
                <a:spcPts val="0"/>
              </a:spcBef>
              <a:buNone/>
            </a:pPr>
            <a:r>
              <a:rPr sz="2199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Pesto Piece-Square-Tables, Material, Aktivitaet, Koenigssicherheit, Bauernstruktur, Mobilitaet. Opening Database fuer plausible Eroeffnungszuege. Optional: Syzygy-Endspiel-Tablebases per Python-Probe.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306B62D-3E2A-4686-8D95-1F7D1B6E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7153275"/>
            <a:ext cx="97155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INTEGRATION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BD279183-2309-4120-96E8-AA533BCA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7620000"/>
            <a:ext cx="9715500" cy="7632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79"/>
              </a:lnSpc>
              <a:spcBef>
                <a:spcPts val="0"/>
              </a:spcBef>
              <a:buNone/>
            </a:pPr>
            <a:r>
              <a:rPr sz="2199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Lichess-Bot und NowChess-Turnierserver-Bot. Der Bot ist kein Demo-Stub, sondern ein eigenstaendiger technischer Teil des Projekts.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7B21158A-AD48-4707-92C2-40A9B21B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9344025"/>
            <a:ext cx="291465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Tim Brutscher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F91FBF1-223D-41D2-A4E7-ECE04B0F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3350" y="9344025"/>
            <a:ext cx="1895475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2026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64A713F-BF09-4B12-BF00-ABBCFABC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425" y="571500"/>
            <a:ext cx="14478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Slide 10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659F0933-5C69-4943-BBE4-FCDA538E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1207" y="371284"/>
            <a:ext cx="1888093" cy="775859"/>
          </a:xfrm>
          <a:custGeom xmlns:a="http://schemas.openxmlformats.org/drawingml/2006/main">
            <a:rect l="l" t="t" r="r" b="b"/>
            <a:pathLst>
              <a:path w="1888093" h="775859">
                <a:moveTo>
                  <a:pt x="0" y="0"/>
                </a:moveTo>
                <a:lnTo>
                  <a:pt x="1888093" y="0"/>
                </a:lnTo>
                <a:lnTo>
                  <a:pt x="1888093" y="775859"/>
                </a:lnTo>
                <a:lnTo>
                  <a:pt x="0" y="7758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2fcfd4f29f14712">
              <a:extLst>
                <a:ext uri="{96DAC541-7B7A-43D3-8B79-37D633B846F1}">
                  <asvg:svgBlip xmlns:asvg="http://schemas.microsoft.com/office/drawing/2016/SVG/main" r:embed="R971dd28014d6489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B89DEBD3-7C81-4751-8916-18B37AA9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968" y="575310"/>
            <a:ext cx="1444581" cy="405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57"/>
              </a:lnSpc>
              <a:buNone/>
            </a:pPr>
            <a:r>
              <a:rPr sz="2398" b="1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</a:rPr>
              <a:t>Slide 08</a:t>
            </a:r>
          </a:p>
        </p:txBody>
      </p:sp>
    </p:spTree>
    <p:extLst>
      <p:ext uri="{BB962C8B-B14F-4D97-AF65-F5344CB8AC3E}">
        <p14:creationId xmlns:p14="http://schemas.microsoft.com/office/powerpoint/2010/main" val="14263720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4CD7811A-35F2-41AB-976F-3FD82F98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62000"/>
            <a:ext cx="13335000" cy="1236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4679"/>
              </a:lnSpc>
              <a:spcBef>
                <a:spcPts val="0"/>
              </a:spcBef>
              <a:buNone/>
            </a:pPr>
            <a:r>
              <a:rPr sz="5199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DEBUG-/PROFILING-AUSGABE:</a:t>
            </a:r>
          </a:p>
          <a:p xmlns:a="http://schemas.openxmlformats.org/drawingml/2006/main">
            <a:pPr marL="0" indent="0" algn="l">
              <a:lnSpc>
                <a:spcPts val="4679"/>
              </a:lnSpc>
              <a:spcBef>
                <a:spcPts val="0"/>
              </a:spcBef>
              <a:buNone/>
            </a:pPr>
            <a:r>
              <a:rPr sz="5199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SUCHE MESSBAR MACHEN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A8C7A4F0-69FB-4CFC-9E59-E4E0EA6D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238375"/>
            <a:ext cx="9906000" cy="3461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sz="1400" u="none">
                <a:solidFill>
                  <a:srgbClr val="00FF88"/>
                </a:solidFill>
                <a:latin typeface="JetBrains Mono"/>
                <a:ea typeface="JetBrains Mono"/>
                <a:cs typeface="JetBrains Mono"/>
              </a:rPr>
              <a:t>depth 1 | score +0.30 | move e2e4 | nodes 20 | nps 12000 | tt 12 | 4ms</a:t>
            </a:r>
          </a:p>
          <a:p xmlns:a="http://schemas.openxmlformats.org/drawingml/2006/main"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sz="1400" u="none">
                <a:solidFill>
                  <a:srgbClr val="00FF88"/>
                </a:solidFill>
                <a:latin typeface="JetBrains Mono"/>
                <a:ea typeface="JetBrains Mono"/>
                <a:cs typeface="JetBrains Mono"/>
              </a:rPr>
              <a:t>depth 2 | score +0.18 | move e2e4 | nodes 410 | nps 28000 | tt 180 | 15ms</a:t>
            </a:r>
          </a:p>
          <a:p xmlns:a="http://schemas.openxmlformats.org/drawingml/2006/main"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sz="1400" u="none">
                <a:solidFill>
                  <a:srgbClr val="00FF88"/>
                </a:solidFill>
                <a:latin typeface="JetBrains Mono"/>
                <a:ea typeface="JetBrains Mono"/>
                <a:cs typeface="JetBrains Mono"/>
              </a:rPr>
              <a:t>depth 3 | score +0.42 | move g1f3 | nodes 6200 | nps 52000 | tt 2100 | 128ms</a:t>
            </a:r>
          </a:p>
          <a:p xmlns:a="http://schemas.openxmlformats.org/drawingml/2006/main"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</a:p>
          <a:p xmlns:a="http://schemas.openxmlformats.org/drawingml/2006/main"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sz="1400" u="none">
                <a:solidFill>
                  <a:srgbClr val="00FF88"/>
                </a:solidFill>
                <a:latin typeface="JetBrains Mono"/>
                <a:ea typeface="JetBrains Mono"/>
                <a:cs typeface="JetBrains Mono"/>
              </a:rPr>
              <a:t>profile | total 128.00ms | nodes 6630 | tt 2100</a:t>
            </a:r>
          </a:p>
          <a:p xmlns:a="http://schemas.openxmlformats.org/drawingml/2006/main"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sz="1400" u="none">
                <a:solidFill>
                  <a:srgbClr val="00FF88"/>
                </a:solidFill>
                <a:latin typeface="JetBrains Mono"/>
                <a:ea typeface="JetBrains Mono"/>
                <a:cs typeface="JetBrains Mono"/>
              </a:rPr>
              <a:t>  legal   22.40ms | 17.5% | calls 950  | avg 23.57us</a:t>
            </a:r>
          </a:p>
          <a:p xmlns:a="http://schemas.openxmlformats.org/drawingml/2006/main"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sz="1400" u="none">
                <a:solidFill>
                  <a:srgbClr val="00FF88"/>
                </a:solidFill>
                <a:latin typeface="JetBrains Mono"/>
                <a:ea typeface="JetBrains Mono"/>
                <a:cs typeface="JetBrains Mono"/>
              </a:rPr>
              <a:t>  apply   31.10ms | 24.3% | calls 6630 | avg  4.69us</a:t>
            </a:r>
          </a:p>
          <a:p xmlns:a="http://schemas.openxmlformats.org/drawingml/2006/main"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sz="1400" u="none">
                <a:solidFill>
                  <a:srgbClr val="00FF88"/>
                </a:solidFill>
                <a:latin typeface="JetBrains Mono"/>
                <a:ea typeface="JetBrains Mono"/>
                <a:cs typeface="JetBrains Mono"/>
              </a:rPr>
              <a:t>  eval    44.80ms | 35.0% | calls 4100 | avg 10.92us</a:t>
            </a:r>
          </a:p>
          <a:p xmlns:a="http://schemas.openxmlformats.org/drawingml/2006/main"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sz="1400" u="none">
                <a:solidFill>
                  <a:srgbClr val="00FF88"/>
                </a:solidFill>
                <a:latin typeface="JetBrains Mono"/>
                <a:ea typeface="JetBrains Mono"/>
                <a:cs typeface="JetBrains Mono"/>
              </a:rPr>
              <a:t>  check   12.60ms |  9.8% | calls 1800 | avg  7.00us</a:t>
            </a:r>
          </a:p>
          <a:p xmlns:a="http://schemas.openxmlformats.org/drawingml/2006/main"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sz="1400" u="none">
                <a:solidFill>
                  <a:srgbClr val="00FF88"/>
                </a:solidFill>
                <a:latin typeface="JetBrains Mono"/>
                <a:ea typeface="JetBrains Mono"/>
                <a:cs typeface="JetBrains Mono"/>
              </a:rPr>
              <a:t>  order    8.20ms |  6.4% | calls 620  | avg 13.22us</a:t>
            </a:r>
          </a:p>
          <a:p xmlns:a="http://schemas.openxmlformats.org/drawingml/2006/main"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sz="1400" u="none">
                <a:solidFill>
                  <a:srgbClr val="00FF88"/>
                </a:solidFill>
                <a:latin typeface="JetBrains Mono"/>
                <a:ea typeface="JetBrains Mono"/>
                <a:cs typeface="JetBrains Mono"/>
              </a:rPr>
              <a:t>  hash     3.10ms |  2.4% | calls 6630 | avg   467ns</a:t>
            </a:r>
          </a:p>
          <a:p xmlns:a="http://schemas.openxmlformats.org/drawingml/2006/main"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sz="1400" u="none">
                <a:solidFill>
                  <a:srgbClr val="00FF88"/>
                </a:solidFill>
                <a:latin typeface="JetBrains Mono"/>
                <a:ea typeface="JetBrains Mono"/>
                <a:cs typeface="JetBrains Mono"/>
              </a:rPr>
              <a:t>  tt       2.70ms |  2.1% | calls 5400 | avg   500ns</a:t>
            </a:r>
          </a:p>
          <a:p xmlns:a="http://schemas.openxmlformats.org/drawingml/2006/main"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sz="1400" u="none">
                <a:solidFill>
                  <a:srgbClr val="00FF88"/>
                </a:solidFill>
                <a:latin typeface="JetBrains Mono"/>
                <a:ea typeface="JetBrains Mono"/>
                <a:cs typeface="JetBrains Mono"/>
              </a:rPr>
              <a:t>  null     attempts 380 | cutoffs 74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0A9C923-8E63-4D2E-9D73-CC83C0B8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7581900"/>
            <a:ext cx="5715000" cy="273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239"/>
              </a:lnSpc>
              <a:spcBef>
                <a:spcPts val="0"/>
              </a:spcBef>
              <a:buNone/>
            </a:pPr>
            <a:r>
              <a:rPr sz="1599" b="1" u="none">
                <a:solidFill>
                  <a:srgbClr val="FF3131"/>
                </a:solidFill>
                <a:latin typeface="JetBrains Mono Bold"/>
                <a:ea typeface="JetBrains Mono Bold"/>
                <a:cs typeface="JetBrains Mono Bold"/>
              </a:rPr>
              <a:t>Aktivierung: TICHESS_PROFILE=true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E2EEC39-50E3-4F9D-8DA7-0D0CB953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0" y="2047875"/>
            <a:ext cx="59055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TAKEAWAYS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E5BA7E4-2257-4A3A-B004-E54F5B6A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0" y="2514600"/>
            <a:ext cx="5905500" cy="38461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1. Bottlenecks werden sichtbar.</a:t>
            </a:r>
          </a:p>
          <a:p xmlns:a="http://schemas.openxmlformats.org/drawingml/2006/main"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Man erkennt sofort, ob eval, legal oder apply die meiste Zeit verbraucht.</a:t>
            </a:r>
          </a:p>
          <a:p xmlns:a="http://schemas.openxmlformats.org/drawingml/2006/main"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</a:p>
          <a:p xmlns:a="http://schemas.openxmlformats.org/drawingml/2006/main"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2. Optimierungen werden messbar.</a:t>
            </a:r>
          </a:p>
          <a:p xmlns:a="http://schemas.openxmlformats.org/drawingml/2006/main"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Transposition Table Hits, Null-Move-Cutoffs und Nodes/s zeigen den Effekt jeder Aenderung.</a:t>
            </a:r>
          </a:p>
          <a:p xmlns:a="http://schemas.openxmlformats.org/drawingml/2006/main"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</a:p>
          <a:p xmlns:a="http://schemas.openxmlformats.org/drawingml/2006/main"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3. Bot-Entscheidungen werden nachvollziehbarer.</a:t>
            </a:r>
          </a:p>
          <a:p xmlns:a="http://schemas.openxmlformats.org/drawingml/2006/main"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sz="1800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Suchtiefe, Score und bester Zug pro Iteration machen die Entscheidungsfindung transparent.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F3C68B3-18EC-4643-BCCD-FE32CEDE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9344025"/>
            <a:ext cx="291465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Tim Brutscher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6DBAC11E-5D27-4004-B8C3-B2614958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3350" y="9344025"/>
            <a:ext cx="1895475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2026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A0AD087-1DDA-442F-B5F4-13193DCB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425" y="571500"/>
            <a:ext cx="14478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Slide 11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F2659D8-F152-4087-8415-713389A2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1207" y="371284"/>
            <a:ext cx="1888093" cy="775859"/>
          </a:xfrm>
          <a:custGeom xmlns:a="http://schemas.openxmlformats.org/drawingml/2006/main">
            <a:rect l="l" t="t" r="r" b="b"/>
            <a:pathLst>
              <a:path w="1888093" h="775859">
                <a:moveTo>
                  <a:pt x="0" y="0"/>
                </a:moveTo>
                <a:lnTo>
                  <a:pt x="1888093" y="0"/>
                </a:lnTo>
                <a:lnTo>
                  <a:pt x="1888093" y="775859"/>
                </a:lnTo>
                <a:lnTo>
                  <a:pt x="0" y="7758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9c3835a03a242d4">
              <a:extLst>
                <a:ext uri="{96DAC541-7B7A-43D3-8B79-37D633B846F1}">
                  <asvg:svgBlip xmlns:asvg="http://schemas.microsoft.com/office/drawing/2016/SVG/main" r:embed="Rb3bbcb98b39148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578F72B-FD34-484F-BDDD-395AB4F6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968" y="575310"/>
            <a:ext cx="1444581" cy="405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57"/>
              </a:lnSpc>
              <a:buNone/>
            </a:pPr>
            <a:r>
              <a:rPr sz="2398" b="1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</a:rPr>
              <a:t>Slide 09</a:t>
            </a:r>
          </a:p>
        </p:txBody>
      </p:sp>
    </p:spTree>
    <p:extLst>
      <p:ext uri="{BB962C8B-B14F-4D97-AF65-F5344CB8AC3E}">
        <p14:creationId xmlns:p14="http://schemas.microsoft.com/office/powerpoint/2010/main" val="14012626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ADF1F7B4-4217-4F33-BF39-71CE1FB4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000250"/>
            <a:ext cx="5772150" cy="31559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7999"/>
              </a:lnSpc>
              <a:spcBef>
                <a:spcPts val="0"/>
              </a:spcBef>
              <a:buNone/>
            </a:pPr>
            <a:r>
              <a:rPr sz="9999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TOOLS &amp;</a:t>
            </a:r>
          </a:p>
          <a:p xmlns:a="http://schemas.openxmlformats.org/drawingml/2006/main">
            <a:pPr marL="0" indent="0" algn="l">
              <a:lnSpc>
                <a:spcPts val="7999"/>
              </a:lnSpc>
              <a:spcBef>
                <a:spcPts val="0"/>
              </a:spcBef>
              <a:buNone/>
            </a:pPr>
            <a:r>
              <a:rPr sz="9999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GENUTZTE</a:t>
            </a:r>
          </a:p>
          <a:p xmlns:a="http://schemas.openxmlformats.org/drawingml/2006/main">
            <a:pPr marL="0" indent="0" algn="l">
              <a:lnSpc>
                <a:spcPts val="7999"/>
              </a:lnSpc>
              <a:spcBef>
                <a:spcPts val="0"/>
              </a:spcBef>
              <a:buNone/>
            </a:pPr>
            <a:r>
              <a:rPr sz="9999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KI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DEC4392-0415-4A49-B835-E8947C5E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1552575"/>
            <a:ext cx="97155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OPENAI CODEX (HAUPTTOOL)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EA3CC08-5AF1-4D99-B637-1B3595D8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2019300"/>
            <a:ext cx="9715500" cy="1153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79"/>
              </a:lnSpc>
              <a:spcBef>
                <a:spcPts val="0"/>
              </a:spcBef>
              <a:buNone/>
            </a:pPr>
            <a:r>
              <a:rPr sz="2199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Codex Plus war das primaere Entwicklungstool fuer den Grossteil des Projekts. Kein Token-Limit erreicht - durchgehend produktiv nutzbar fuer Code-Generierung, Refactoring und Architekturentscheidungen.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43EFC719-C8FE-496C-B2F8-7BC99C1F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3762375"/>
            <a:ext cx="97155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ANTIGRAVITY + GEMINI PRO (ANFANGSPHASE)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C1677EE-F2D8-47C4-A23B-4298FD24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4229100"/>
            <a:ext cx="9715500" cy="11537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079"/>
              </a:lnSpc>
              <a:spcBef>
                <a:spcPts val="0"/>
              </a:spcBef>
              <a:buNone/>
            </a:pPr>
            <a:r>
              <a:rPr sz="2199" b="1" u="non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</a:rPr>
              <a:t>In der fruehen Projektphase wurde Antigravity mit Gemini Pro KI genutzt. Nach Verfuegbarkeit von Codex Plus vollstaendiger Wechsel, da Codex durchgehend ohne Token-Limit arbeitete.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0FCEBFF-A244-4667-9C22-9C5CFA96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9344025"/>
            <a:ext cx="291465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Tim Brutscher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7FA7D44-AEF7-4F53-94FB-CD3906DB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3350" y="9344025"/>
            <a:ext cx="1895475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2026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45F5BA9-F55D-4E0E-937D-5210637A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425" y="571500"/>
            <a:ext cx="144780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Slide 10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730CC14-1147-4DA9-966A-7121857B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1207" y="371284"/>
            <a:ext cx="1888093" cy="775859"/>
          </a:xfrm>
          <a:custGeom xmlns:a="http://schemas.openxmlformats.org/drawingml/2006/main">
            <a:rect l="l" t="t" r="r" b="b"/>
            <a:pathLst>
              <a:path w="1888093" h="775859">
                <a:moveTo>
                  <a:pt x="0" y="0"/>
                </a:moveTo>
                <a:lnTo>
                  <a:pt x="1888093" y="0"/>
                </a:lnTo>
                <a:lnTo>
                  <a:pt x="1888093" y="775859"/>
                </a:lnTo>
                <a:lnTo>
                  <a:pt x="0" y="7758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06535152b54295">
              <a:extLst>
                <a:ext uri="{96DAC541-7B7A-43D3-8B79-37D633B846F1}">
                  <asvg:svgBlip xmlns:asvg="http://schemas.microsoft.com/office/drawing/2016/SVG/main" r:embed="R30803d5a202144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7CF0115-C73A-4D9F-B319-05ED6A07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968" y="575310"/>
            <a:ext cx="1444581" cy="405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57"/>
              </a:lnSpc>
              <a:buNone/>
            </a:pPr>
            <a:r>
              <a:rPr sz="2398" b="1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</a:rPr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16911761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EF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FF4CDA1-7938-4A91-BD91-70EF9C01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3162300"/>
            <a:ext cx="11430000" cy="3027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12146"/>
              </a:lnSpc>
              <a:spcBef>
                <a:spcPts val="0"/>
              </a:spcBef>
              <a:buNone/>
            </a:pPr>
            <a:r>
              <a:rPr sz="8676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DANKE FUERS</a:t>
            </a:r>
          </a:p>
          <a:p xmlns:a="http://schemas.openxmlformats.org/drawingml/2006/main">
            <a:pPr marL="0" indent="0" algn="ctr">
              <a:lnSpc>
                <a:spcPts val="12146"/>
              </a:lnSpc>
              <a:spcBef>
                <a:spcPts val="0"/>
              </a:spcBef>
              <a:buNone/>
            </a:pPr>
            <a:r>
              <a:rPr sz="8676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</a:rPr>
              <a:t>ZUHOEREN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1D8649C-020F-4170-81DB-9B6E95D0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9344025"/>
            <a:ext cx="2914650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Tim Brutscher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4BBDE54-6966-40F8-A60E-847640C9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3350" y="9344025"/>
            <a:ext cx="1895475" cy="40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ts val="3359"/>
              </a:lnSpc>
              <a:spcBef>
                <a:spcPts val="0"/>
              </a:spcBef>
              <a:buNone/>
            </a:pPr>
            <a:r>
              <a:rPr sz="2400" b="1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</a:rPr>
              <a:t>2026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D1E6A45-9888-47D9-BBF4-EA66CA9F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71207" y="371284"/>
            <a:ext cx="1888093" cy="775859"/>
          </a:xfrm>
          <a:custGeom xmlns:a="http://schemas.openxmlformats.org/drawingml/2006/main">
            <a:rect l="l" t="t" r="r" b="b"/>
            <a:pathLst>
              <a:path w="1888093" h="775859">
                <a:moveTo>
                  <a:pt x="0" y="0"/>
                </a:moveTo>
                <a:lnTo>
                  <a:pt x="1888093" y="0"/>
                </a:lnTo>
                <a:lnTo>
                  <a:pt x="1888093" y="775859"/>
                </a:lnTo>
                <a:lnTo>
                  <a:pt x="0" y="7758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3690d04306941bd">
              <a:extLst>
                <a:ext uri="{96DAC541-7B7A-43D3-8B79-37D633B846F1}">
                  <asvg:svgBlip xmlns:asvg="http://schemas.microsoft.com/office/drawing/2016/SVG/main" r:embed="R5faa95c0f7a44a8c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31BFFE3-AAF0-4A9D-88EF-E92C012C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2968" y="575310"/>
            <a:ext cx="1444581" cy="405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357"/>
              </a:lnSpc>
              <a:buNone/>
            </a:pPr>
            <a:r>
              <a:rPr sz="2398" b="1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</a:rPr>
              <a:t>Slide 11</a:t>
            </a:r>
          </a:p>
        </p:txBody>
      </p:sp>
    </p:spTree>
    <p:extLst>
      <p:ext uri="{BB962C8B-B14F-4D97-AF65-F5344CB8AC3E}">
        <p14:creationId xmlns:p14="http://schemas.microsoft.com/office/powerpoint/2010/main" val="131772107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2026-06-30T20:54:15.3960000Z</dcterms:created>
  <dcterms:modified xsi:type="dcterms:W3CDTF">2026-06-30T20:54:15.3960000Z</dcterms:modified>
</coreProperties>
</file>