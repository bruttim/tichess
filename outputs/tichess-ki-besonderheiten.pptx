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c6cff67d58425c" /><Relationship Type="http://schemas.openxmlformats.org/officeDocument/2006/relationships/extended-properties" Target="/docProps/app.xml" Id="R779c50f8928a4a09" /><Relationship Type="http://schemas.openxmlformats.org/officeDocument/2006/relationships/officeDocument" Target="/ppt/presentation.xml" Id="R018bab1023fc43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f985e726ae4b94"/>
  </p:sldMasterIdLst>
  <p:notesMasterIdLst>
    <p:notesMasterId xmlns:r="http://schemas.openxmlformats.org/officeDocument/2006/relationships" r:id="R1633292a63ab4ed8"/>
  </p:notesMasterIdLst>
  <p:sldIdLst>
    <p:sldId xmlns:r="http://schemas.openxmlformats.org/officeDocument/2006/relationships" id="256" r:id="Ra601ce7b49c64afc"/>
    <p:sldId xmlns:r="http://schemas.openxmlformats.org/officeDocument/2006/relationships" id="257" r:id="R7c9e943fdd064f31"/>
    <p:sldId xmlns:r="http://schemas.openxmlformats.org/officeDocument/2006/relationships" id="258" r:id="R6942ce52422b458f"/>
    <p:sldId xmlns:r="http://schemas.openxmlformats.org/officeDocument/2006/relationships" id="259" r:id="R47bc3b8bb07948f3"/>
    <p:sldId xmlns:r="http://schemas.openxmlformats.org/officeDocument/2006/relationships" id="260" r:id="R5799c73797454f59"/>
    <p:sldId xmlns:r="http://schemas.openxmlformats.org/officeDocument/2006/relationships" id="261" r:id="Ra3327fbc7f944dff"/>
    <p:sldId xmlns:r="http://schemas.openxmlformats.org/officeDocument/2006/relationships" id="262" r:id="Rb88b6aae84b947f7"/>
    <p:sldId xmlns:r="http://schemas.openxmlformats.org/officeDocument/2006/relationships" id="263" r:id="R72bd1832e8a14a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8373049d240d8" /><Relationship Type="http://schemas.openxmlformats.org/officeDocument/2006/relationships/slideMaster" Target="/ppt/slideMasters/slideMaster1.xml" Id="R25f985e726ae4b94" /><Relationship Type="http://schemas.openxmlformats.org/officeDocument/2006/relationships/notesMaster" Target="/ppt/notesMasters/notesMaster1.xml" Id="R1633292a63ab4ed8" /><Relationship Type="http://schemas.openxmlformats.org/officeDocument/2006/relationships/presProps" Target="/ppt/presProps.xml" Id="R94b6d9e83dc74398" /><Relationship Type="http://schemas.openxmlformats.org/officeDocument/2006/relationships/tableStyles" Target="/ppt/tableStyles.xml" Id="R9c796ba525e64310" /><Relationship Type="http://schemas.openxmlformats.org/officeDocument/2006/relationships/slide" Target="/ppt/slides/slide1.xml" Id="Ra601ce7b49c64afc" /><Relationship Type="http://schemas.openxmlformats.org/officeDocument/2006/relationships/slide" Target="/ppt/slides/slide2.xml" Id="R7c9e943fdd064f31" /><Relationship Type="http://schemas.openxmlformats.org/officeDocument/2006/relationships/slide" Target="/ppt/slides/slide3.xml" Id="R6942ce52422b458f" /><Relationship Type="http://schemas.openxmlformats.org/officeDocument/2006/relationships/slide" Target="/ppt/slides/slide4.xml" Id="R47bc3b8bb07948f3" /><Relationship Type="http://schemas.openxmlformats.org/officeDocument/2006/relationships/slide" Target="/ppt/slides/slide5.xml" Id="R5799c73797454f59" /><Relationship Type="http://schemas.openxmlformats.org/officeDocument/2006/relationships/slide" Target="/ppt/slides/slide6.xml" Id="Ra3327fbc7f944dff" /><Relationship Type="http://schemas.openxmlformats.org/officeDocument/2006/relationships/slide" Target="/ppt/slides/slide7.xml" Id="Rb88b6aae84b947f7" /><Relationship Type="http://schemas.openxmlformats.org/officeDocument/2006/relationships/slide" Target="/ppt/slides/slide8.xml" Id="R72bd1832e8a1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9145f300a8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70eb141224d97" /><Relationship Type="http://schemas.openxmlformats.org/officeDocument/2006/relationships/notesMaster" Target="/ppt/notesMasters/notesMaster1.xml" Id="R4c97c5e00f2843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d3a2873c544e92" /><Relationship Type="http://schemas.openxmlformats.org/officeDocument/2006/relationships/notesMaster" Target="/ppt/notesMasters/notesMaster1.xml" Id="Rfeb4f5d1ab23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3a47735ff447d2" /><Relationship Type="http://schemas.openxmlformats.org/officeDocument/2006/relationships/notesMaster" Target="/ppt/notesMasters/notesMaster1.xml" Id="R63028f70ecb74a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7dc616e5564ab3" /><Relationship Type="http://schemas.openxmlformats.org/officeDocument/2006/relationships/notesMaster" Target="/ppt/notesMasters/notesMaster1.xml" Id="R4c661aae740547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01fbb2e854492" /><Relationship Type="http://schemas.openxmlformats.org/officeDocument/2006/relationships/notesMaster" Target="/ppt/notesMasters/notesMaster1.xml" Id="R150e7dad233046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eeb9bdbbe145a1" /><Relationship Type="http://schemas.openxmlformats.org/officeDocument/2006/relationships/notesMaster" Target="/ppt/notesMasters/notesMaster1.xml" Id="R8fdb1f0c1a7a40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2298eeb1824f38" /><Relationship Type="http://schemas.openxmlformats.org/officeDocument/2006/relationships/notesMaster" Target="/ppt/notesMasters/notesMaster1.xml" Id="R615c524980a24d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08e6c0e68d46c0" /><Relationship Type="http://schemas.openxmlformats.org/officeDocument/2006/relationships/notesMaster" Target="/ppt/notesMasters/notesMaster1.xml" Id="R50afd88d48b7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9e91e2d9e41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d4f6dd995e45ae" /><Relationship Type="http://schemas.openxmlformats.org/officeDocument/2006/relationships/slideLayout" Target="/ppt/slideLayouts/slideLayout1.xml" Id="Re918115f9eba46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18115f9eba46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9baa2492a4c88" /><Relationship Type="http://schemas.openxmlformats.org/officeDocument/2006/relationships/notesSlide" Target="/ppt/notesSlides/notesSlide1.xml" Id="R524b59e086dd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7e8c7a4474dd2" /><Relationship Type="http://schemas.openxmlformats.org/officeDocument/2006/relationships/notesSlide" Target="/ppt/notesSlides/notesSlide2.xml" Id="R588e6d653934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d7eef97eb41e8" /><Relationship Type="http://schemas.openxmlformats.org/officeDocument/2006/relationships/notesSlide" Target="/ppt/notesSlides/notesSlide3.xml" Id="R686f914b5b03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2fd6280fa4afd" /><Relationship Type="http://schemas.openxmlformats.org/officeDocument/2006/relationships/notesSlide" Target="/ppt/notesSlides/notesSlide4.xml" Id="R5406cead62704a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c705ee87e484e" /><Relationship Type="http://schemas.openxmlformats.org/officeDocument/2006/relationships/notesSlide" Target="/ppt/notesSlides/notesSlide5.xml" Id="R7fd223c32615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7ef1fbd004d7d" /><Relationship Type="http://schemas.openxmlformats.org/officeDocument/2006/relationships/notesSlide" Target="/ppt/notesSlides/notesSlide6.xml" Id="R8a428eab95514e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ca0f266eb4f2b" /><Relationship Type="http://schemas.openxmlformats.org/officeDocument/2006/relationships/notesSlide" Target="/ppt/notesSlides/notesSlide7.xml" Id="R869e7ca5f7044f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dd0b32c84cd2" /><Relationship Type="http://schemas.openxmlformats.org/officeDocument/2006/relationships/notesSlide" Target="/ppt/notesSlides/notesSlide8.xml" Id="R8724a5ba2cfc46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CC294-C558-4B3D-B321-D7468841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CDFBD-0EE9-49AC-887D-F26B7A9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Praesentation morgen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B7EF-ED8F-46D6-92C3-18B5F6F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B0B0D"/>
                </a:solidFill>
              </a:defRPr>
            </a:pPr>
            <a:r>
              <a:rPr sz="5250" b="1">
                <a:solidFill>
                  <a:srgbClr val="0B0B0D"/>
                </a:solidFill>
              </a:rPr>
              <a:t>TiChess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A4AA9-60EB-4C28-A68D-6D15630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B0D"/>
                </a:solidFill>
              </a:defRPr>
            </a:pPr>
            <a:r>
              <a:rPr sz="3150" b="1">
                <a:solidFill>
                  <a:srgbClr val="0B0B0D"/>
                </a:solidFill>
              </a:rPr>
              <a:t>KI genutzt, aber Architektur gebaut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CDD77-EC40-4FE0-A958-6521294A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Unsere Besonderheit ist nicht ein einzelner Prompt, sondern die Breite: Schachlogik, Microservices, Streams, Analytics, Bots, Deployment und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028D4-5F90-4580-B9C7-FE178FC5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19150"/>
            <a:ext cx="2952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0B214-6285-4381-8518-48588AE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192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B0D"/>
                </a:solidFill>
              </a:defRPr>
            </a:pPr>
            <a:r>
              <a:rPr sz="2250" b="1">
                <a:solidFill>
                  <a:srgbClr val="0B0B0D"/>
                </a:solidFill>
              </a:rPr>
              <a:t>Was zeigen?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5B73F-55C2-4000-A6BC-98FE8A4B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962F3-4013-4045-829C-D969B2AE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669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D"/>
                </a:solidFill>
              </a:defRPr>
            </a:pPr>
            <a:r>
              <a:rPr sz="1500" b="0">
                <a:solidFill>
                  <a:srgbClr val="0B0B0D"/>
                </a:solidFill>
              </a:rPr>
              <a:t>Eventgetriebene Erweiterungen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8881F-A00A-4C5F-86AB-86357EE5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F3613-AA59-49F7-8EF8-B74AE6CB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D"/>
                </a:solidFill>
              </a:defRPr>
            </a:pPr>
            <a:r>
              <a:rPr sz="1500" b="0">
                <a:solidFill>
                  <a:srgbClr val="0B0B0D"/>
                </a:solidFill>
              </a:rPr>
              <a:t>Bot-Engine mit Schach-Tricks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AB357-571E-425E-9295-0CC0078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07F3F-1959-47F3-A65A-FD0AC325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D"/>
                </a:solidFill>
              </a:defRPr>
            </a:pPr>
            <a:r>
              <a:rPr sz="1500" b="0">
                <a:solidFill>
                  <a:srgbClr val="0B0B0D"/>
                </a:solidFill>
              </a:rPr>
              <a:t>Qualitaet messbar gemacht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470E3-9DCA-4F2A-A0B5-4DDAE09D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99517-AC50-4D9C-9F19-760AFB60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D"/>
                </a:solidFill>
              </a:defRPr>
            </a:pPr>
            <a:r>
              <a:rPr sz="1500" b="1">
                <a:solidFill>
                  <a:srgbClr val="0B0B0D"/>
                </a:solidFill>
              </a:rPr>
              <a:t>Kernaussage: KI war Werkzeug, nicht Architektur-Ersatz.</a:t>
            </a:r>
          </a:p>
        </p:txBody>
      </p:sp>
    </p:spTree>
    <p:extLst>
      <p:ext uri="{BB962C8B-B14F-4D97-AF65-F5344CB8AC3E}">
        <p14:creationId xmlns:p14="http://schemas.microsoft.com/office/powerpoint/2010/main" val="436020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FBC63F-0972-43A3-8138-3431F871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DCD85-2EC9-4959-A63E-F1ED9F1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 /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63FCF-0D08-4C0B-8432-B44BB68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B0D"/>
                </a:solidFill>
              </a:defRPr>
            </a:pPr>
            <a:r>
              <a:rPr sz="3375" b="1">
                <a:solidFill>
                  <a:srgbClr val="0B0B0D"/>
                </a:solidFill>
              </a:rPr>
              <a:t>Wenn alle KI benutzen, zaehlt der Umgang damit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75BE3-3627-434C-9B16-0FDF7788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Was wir daraus gemacht haben: mehr Integrationsarbeit statt nur mehr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CB04F-C0D0-4498-A9CD-54295E15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F5B6C-119F-4835-9745-D777842A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857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E8E4C-4658-4C6D-9F2C-442EA938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1. KI als Sparringspartner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B8585-518D-4B31-82E9-670B59AF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Schnell Varianten ausprobieren: Parser, Servicegrenzen, Streaming-Flows,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97499-0777-4EE0-AD99-3B001FBB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7A685-4E1A-41C2-8B0A-57E66905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857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03D02-F37A-4614-9BCD-541D6761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67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2. Architektur bleibt menschlich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4865B-BFC9-40E9-97DA-FBF59D87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995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Die stabilen Grenzen sind bewusst gesetzt: Model, Controller, View, Stream, Analytics.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D23B1-22E0-4F82-AA8C-8ED369BE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4CA1A-616B-4C57-AE71-D30F32F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857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40B27-5060-4B83-A8ED-82A765AA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3. Nachweis statt Behauptung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210CB-E3F9-48B7-97DB-7FF4E1CD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Coverage, reale k3d-Tests, Healthchecks, Last- und Benchmark-Dateien.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CC691-05BA-4873-8895-2B87FE22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B0D"/>
                </a:solidFill>
              </a:defRPr>
            </a:pPr>
            <a:r>
              <a:rPr sz="1350" b="1">
                <a:solidFill>
                  <a:srgbClr val="0B0B0D"/>
                </a:solidFill>
              </a:rPr>
              <a:t>Satz fuer den Vortrag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19F73-AA74-4FC0-B000-1124EE7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D"/>
                </a:solidFill>
              </a:defRPr>
            </a:pPr>
            <a:r>
              <a:rPr sz="1800" b="0">
                <a:solidFill>
                  <a:srgbClr val="0B0B0D"/>
                </a:solidFill>
              </a:rPr>
              <a:t>Wir haben KI nicht als Magie verkauft, sondern als Beschleuniger fuer Architektur-Iteration und Testabdeckung genutzt.</a:t>
            </a:r>
          </a:p>
        </p:txBody>
      </p:sp>
    </p:spTree>
    <p:extLst>
      <p:ext uri="{BB962C8B-B14F-4D97-AF65-F5344CB8AC3E}">
        <p14:creationId xmlns:p14="http://schemas.microsoft.com/office/powerpoint/2010/main" val="1750991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25AEA-F3DA-4B0D-8098-A4A0F028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3F93F-6269-49E3-AFD0-D362EE96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 / Servicegrenzen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1382E-D3C7-40AC-A317-A85B1989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B0D"/>
                </a:solidFill>
              </a:defRPr>
            </a:pPr>
            <a:r>
              <a:rPr sz="3375" b="1">
                <a:solidFill>
                  <a:srgbClr val="0B0B0D"/>
                </a:solidFill>
              </a:rPr>
              <a:t>Die Schachlogik bleibt entkoppelt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E9DDA-BD09-418A-AAA1-C59138F3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Eine einfache Demo kann lokal laufen, dieselbe Fachlogik steckt aber auch im verteilten Stack.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79F27-5786-44A7-90AB-A72630FE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76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32AD5-F412-426C-BC22-CD2EF096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C19D9-B13F-4E95-B1F9-D8C8A082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B0D"/>
                </a:solidFill>
              </a:defRPr>
            </a:pPr>
            <a:r>
              <a:rPr sz="1875" b="1">
                <a:solidFill>
                  <a:srgbClr val="0B0B0D"/>
                </a:solidFill>
              </a:rPr>
              <a:t>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0D108-C15F-44BF-859D-DB27FDEE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Web-UI, Console, ScalaFX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8D3D4-83CE-4E15-8ABA-FF03B507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76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5B541-5A90-4FC7-A93C-9E1B648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EDA48-49D1-4AD8-9C6F-8D8E9794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B0D"/>
                </a:solidFill>
              </a:defRPr>
            </a:pPr>
            <a:r>
              <a:rPr sz="1875" b="1">
                <a:solidFill>
                  <a:srgbClr val="0B0B0D"/>
                </a:solidFill>
              </a:rPr>
              <a:t>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AEE11-10C7-403D-9B95-6B459CA9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90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State, Persistenz, Kommandos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681EC-911C-4363-91F3-8FF8FFBA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276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5A633-DC1D-413C-82C8-58F5097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09B84-E5ED-488E-AD0D-93843C8E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B0D"/>
                </a:solidFill>
              </a:defRPr>
            </a:pPr>
            <a:r>
              <a:rPr sz="1875" b="1">
                <a:solidFill>
                  <a:srgbClr val="0B0B0D"/>
                </a:solidFill>
              </a:rPr>
              <a:t>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F1DDF-44F3-4F10-B1F9-3FF40D7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Regeln und Zuganwendung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B8073-910A-46A9-8DDB-B31B40A2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242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D20C7-C585-4CE0-B5CC-E29843F6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935B2-70BF-44C1-ADFD-1672D819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7242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D0E1C-5108-4E79-A721-B28D82A5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9605D-F01F-4381-B7B1-F97AC25E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CC810-39B9-41DA-BDF6-686305C6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B0D"/>
                </a:solidFill>
              </a:defRPr>
            </a:pPr>
            <a:r>
              <a:rPr sz="1350" b="1">
                <a:solidFill>
                  <a:srgbClr val="0B0B0D"/>
                </a:solidFill>
              </a:rPr>
              <a:t>Nebenpfade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A8326-3CEC-48D4-8415-043CC6C3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721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Stream-Service und Spark-Analytics docken ueber HTTP/Kafka an, statt Schachregeln zu duplizieren.</a:t>
            </a:r>
          </a:p>
        </p:txBody>
      </p:sp>
    </p:spTree>
    <p:extLst>
      <p:ext uri="{BB962C8B-B14F-4D97-AF65-F5344CB8AC3E}">
        <p14:creationId xmlns:p14="http://schemas.microsoft.com/office/powerpoint/2010/main" val="900466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CA360-069C-44ED-811E-D6137EE5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F8232-F363-488E-BB9B-F9FB4F3E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 / Reactive Streams + Kafka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F67C2-2E41-4731-A217-1BC05194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B0D"/>
                </a:solidFill>
              </a:defRPr>
            </a:pPr>
            <a:r>
              <a:rPr sz="3375" b="1">
                <a:solidFill>
                  <a:srgbClr val="0B0B0D"/>
                </a:solidFill>
              </a:rPr>
              <a:t>Eine externe DSL wird zu geordneten Spielereignissen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F8E87-0D3A-447B-A7AD-1D0C7AA8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Interessant daran: Parserfehler werden Daten, Back Pressure bleibt erhalten, Zugreihenfolge bleibt garantiert.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A4B00-2C56-45AE-BDCB-20CF5E81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035D9-4015-4B8F-88CC-8BD303ED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9B6B3-6F4E-426D-B1DE-95C08950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Textzeilen aus DSL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7EBAD-5EAB-491B-BAE0-2F6667AF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36385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A14FD-6D0A-4774-9BFB-71AD112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90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37DC4-F46C-4020-88D4-F40401C8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8AC7C-F40F-46A2-AB04-B6F2C490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76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cleanupFlow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2F60E-B3B9-4204-8D29-984A5B1C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Leerzeilen und Kommentare raus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998C3-71B1-4454-9114-D9CE135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6385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F98C9-D3E9-41FB-BCE5-DC29CFE0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90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40356-0EFF-4972-B219-921A309A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6B5DF-F489-4559-8A98-B0067DE4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76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validationFlow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9FAC6-9E2E-4AE3-92A4-9934C797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Command.parse, Fehler bleiben im Stream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F2584-B5B5-48FA-94A7-2B07949E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6385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144A0-D4C4-4B87-9E83-C932B0F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90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12E3C-0886-437D-AA7A-F7EE022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A478B-8624-4726-8017-ED06281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mapAsync(1)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CFD58-F4FA-423B-898F-66323319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Controller-Aufruf strikt der Reihe nach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F2052-CFB0-4E8A-B2AA-9CEAE20C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6385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E0429-BB19-447E-9DE6-64EA57A3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90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010AA-B05B-42C7-9E90-54A8047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9A073-0E73-4FF0-91D8-F11A828C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76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Sink / Kafka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1E461-A7DE-420B-8DE7-A1A405DE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38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JSON-Ergebnis oder Event Topic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3E769-1544-4DB6-9936-B1E2CB51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Warum das vorzeigbar 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726EB-6F47-45C5-B7EA-DE6D7CBE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EA0882-5DE1-422A-B97B-8E7094E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D"/>
                </a:solidFill>
              </a:defRPr>
            </a:pPr>
            <a:r>
              <a:rPr sz="1500" b="0">
                <a:solidFill>
                  <a:srgbClr val="0B0B0D"/>
                </a:solidFill>
              </a:rPr>
              <a:t>Ein ungueltiger Befehl beendet nicht den ganzen Stream.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CA397C-6794-42E1-B3BE-BB60E82F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E1108-D897-4EE3-AD19-930FDEFC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81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D"/>
                </a:solidFill>
              </a:defRPr>
            </a:pPr>
            <a:r>
              <a:rPr sz="1500" b="0">
                <a:solidFill>
                  <a:srgbClr val="0B0B0D"/>
                </a:solidFill>
              </a:rPr>
              <a:t>Kafka committed erst nach geschriebenem Ergebnis-Event.</a:t>
            </a:r>
          </a:p>
        </p:txBody>
      </p:sp>
    </p:spTree>
    <p:extLst>
      <p:ext uri="{BB962C8B-B14F-4D97-AF65-F5344CB8AC3E}">
        <p14:creationId xmlns:p14="http://schemas.microsoft.com/office/powerpoint/2010/main" val="720092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8DB504-CDED-4C02-9D30-DAE9F9CE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17619-FECD-4E0B-B9A7-C2772AFB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 /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6823F-C129-48C8-BA36-BBE97199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B0D"/>
                </a:solidFill>
              </a:defRPr>
            </a:pPr>
            <a:r>
              <a:rPr sz="3375" b="1">
                <a:solidFill>
                  <a:srgbClr val="0B0B0D"/>
                </a:solidFill>
              </a:rPr>
              <a:t>Spark wertet echte Spielenden aus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FB7D3-09BC-40FC-812D-DAABB22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Nicht nur Beispieldaten: Controller publiziert fachliche GameFinished-Events, Spark macht daraus Statistik.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1DC29-716C-475A-BC03-74056506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3920D-39EF-49AD-93D6-1AF3692A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Event-Form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56C91-16BA-4687-9D3A-3D869012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eventType: GameFinished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winner: White | Black | null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result: checkmate | draw | resignation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moveCount, timestamp, 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F6439-1066-4D15-86E4-BF47976B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5619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09188-A97B-4761-83A1-2DCC5A3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Aggregation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BD890-E031-4405-98E7-71DD2EF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D"/>
                </a:solidFill>
              </a:defRPr>
            </a:pPr>
            <a:r>
              <a:rPr sz="1425" b="0">
                <a:solidFill>
                  <a:srgbClr val="0B0B0D"/>
                </a:solidFill>
              </a:rPr>
              <a:t>White   games   victories   draws   losses  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99539-8D9A-4518-96F9-0904EED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D"/>
                </a:solidFill>
              </a:defRPr>
            </a:pPr>
            <a:r>
              <a:rPr sz="1425" b="0">
                <a:solidFill>
                  <a:srgbClr val="0B0B0D"/>
                </a:solidFill>
              </a:rPr>
              <a:t>Black   games   victories   draws   losses  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D76B5-FD14-4441-9560-F81BA09F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Upsert nach MongoDB -&gt; REST -&gt; Statistik-Tab aktualisiert alle 5 Sekunden.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6E294-F867-4175-8486-2165A462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1197C-D826-4486-A73E-DB09AF4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D"/>
                </a:solidFill>
              </a:defRPr>
            </a:pPr>
            <a:r>
              <a:rPr sz="1500" b="1">
                <a:solidFill>
                  <a:srgbClr val="0B0B0D"/>
                </a:solidFill>
              </a:rPr>
              <a:t>Praesentationstrick: Das wirkt wie ein kleines Produkt-Feature, nicht wie eine isolierte Pflichtaufgabe.</a:t>
            </a:r>
          </a:p>
        </p:txBody>
      </p:sp>
    </p:spTree>
    <p:extLst>
      <p:ext uri="{BB962C8B-B14F-4D97-AF65-F5344CB8AC3E}">
        <p14:creationId xmlns:p14="http://schemas.microsoft.com/office/powerpoint/2010/main" val="1384422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B1E24-62BD-4F38-BB54-F343D59B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40596-1028-43E7-8E6E-05B39BC8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 / 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8E610-8BC4-47D3-992E-C3EEA6F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B0D"/>
                </a:solidFill>
              </a:defRPr>
            </a:pPr>
            <a:r>
              <a:rPr sz="3375" b="1">
                <a:solidFill>
                  <a:srgbClr val="0B0B0D"/>
                </a:solidFill>
              </a:rPr>
              <a:t>Der Bot ist mehr als einfacher Minimax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9390A-FBA5-41A1-9BAF-7B977881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Ein guter Punkt, wenn du etwas zeigen willst, das nicht jedes Team automatisch hat.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34649-18D8-44AF-A164-1D0F80E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B6BE0-FBC4-4E26-A253-FB14A883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587E8-35D5-4B37-973D-8AECAB1E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Opening 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4BC54-576C-478E-BEBE-14041568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PGN-Partien liefern plausible Eröffnungszuege.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2E6D4-934F-45EA-ABBA-040C2A8B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94668-F67A-4DF2-990F-CEB4388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1D56E-C74A-4C3E-8E52-569358D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Alpha-Beta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673D4-1D14-4969-B05B-40DB86BA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Iterative Suche mit Zeitbudget und Move Ordering.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2E3CC-89E0-43B6-A85B-D3E133F1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85BBD-3FAB-4FC7-8575-2E53014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E4C9E-EA4C-4C66-98A1-C8567B37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Transposition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3C55A-B9E0-47AE-B993-5D17C722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385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Zobrist-Hash und Tabelle gegen doppelte Arbeit.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155DC-C57E-4616-9937-A638ECEA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EFFCD-A6F1-4560-B621-BB4790B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A0013-E9FA-449C-83CC-39F8418D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Null Move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7118B-D457-418B-B062-47BC75F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Pruning fuer offensichtlich starke Stellungen.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18604-2E6F-4F04-8EAC-55E8472F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B6079-6595-4D60-B9BD-D16AA42B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56484-B75B-4C04-8313-4B96DF5F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Pesto 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82327-C2C2-4960-BB88-4962082D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Piece-square tables mit Spielphasen.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138F5-13D5-4115-83AB-8772EE9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529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CFCB3-DE6A-41E4-9F2A-49D7F22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5290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D0ADE-CCDC-4812-B924-6001B5B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D"/>
                </a:solidFill>
              </a:defRPr>
            </a:pPr>
            <a:r>
              <a:rPr sz="1575" b="1">
                <a:solidFill>
                  <a:srgbClr val="0B0B0D"/>
                </a:solidFill>
              </a:rPr>
              <a:t>Syzygy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FB442-E4C9-4559-BFF1-97D7470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6725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Endspiel-Tablebases via Python-Probe, wenn vorhanden.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ED1996-816B-4B85-9097-510F703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D"/>
                </a:solidFill>
              </a:defRPr>
            </a:pPr>
            <a:r>
              <a:rPr sz="1725" b="1">
                <a:solidFill>
                  <a:srgbClr val="0B0B0D"/>
                </a:solidFill>
              </a:rPr>
              <a:t>Ausserdem: Lichess-Bot und NowChess-Turnierserver-Bot nutzen dieselbe Bot-Schnittstelle.</a:t>
            </a:r>
          </a:p>
        </p:txBody>
      </p:sp>
    </p:spTree>
    <p:extLst>
      <p:ext uri="{BB962C8B-B14F-4D97-AF65-F5344CB8AC3E}">
        <p14:creationId xmlns:p14="http://schemas.microsoft.com/office/powerpoint/2010/main" val="2060609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9E8299-8886-4DA5-92AB-A7991D46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26422-1A15-4908-A576-8E0FE4C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 / Nachweise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D6B28-E63C-44C3-B08D-57ACA37E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B0D"/>
                </a:solidFill>
              </a:defRPr>
            </a:pPr>
            <a:r>
              <a:rPr sz="3375" b="1">
                <a:solidFill>
                  <a:srgbClr val="0B0B0D"/>
                </a:solidFill>
              </a:rPr>
              <a:t>Qualitaet ist sichtbar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3E9B2-E35F-406C-8344-35A6A53B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Diese Folie fuellt die Luecke, falls die Nachfrage kommt: Woran sieht man, dass es nicht nur generierter Code ist?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0737E-E730-4B10-8484-B0149B1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79E72-495F-4ECB-AF47-FE4CB82A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F8C0C-223A-4E26-8C86-4D08274E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erfolgreiche Tests im dokumentierten Lauf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6EA4F-5AE5-4A49-A11A-7E2CFFC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C2E1D-B0C2-44C6-91BA-36E4CF1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24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5F98"/>
                </a:solidFill>
              </a:defRPr>
            </a:pPr>
            <a:r>
              <a:rPr sz="3150" b="1">
                <a:solidFill>
                  <a:srgbClr val="2F5F98"/>
                </a:solidFill>
              </a:rPr>
              <a:t>99,18%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83D37-FD1E-4870-B866-BBC58AC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76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Statement-Coverage laut README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CA568-788E-43B9-B3E9-12429DD0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5A212-BA51-4EF3-9DD4-F0EB4B2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7A5B"/>
                </a:solidFill>
              </a:defRPr>
            </a:pPr>
            <a:r>
              <a:rPr sz="3150" b="1">
                <a:solidFill>
                  <a:srgbClr val="167A5B"/>
                </a:solidFill>
              </a:rPr>
              <a:t>99,26%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CDB89-D1CB-42F2-90A8-F8965A0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Branch-Coverage laut README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E422F-2829-4F67-BEC0-390233BD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BF241-11FE-4518-9CC9-FE4F04E6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B0D"/>
                </a:solidFill>
              </a:defRPr>
            </a:pPr>
            <a:r>
              <a:rPr sz="3150" b="1">
                <a:solidFill>
                  <a:srgbClr val="0B0B0D"/>
                </a:solidFill>
              </a:rPr>
              <a:t>k3d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2C322-57D6-493B-AD90-FA5565A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realer End-to-End-Test mit Services, Kafka und Mongo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88677-97E1-4C66-88F0-9F2D1758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F2516-90AD-4B48-B1C1-F83FE3F1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D"/>
                </a:solidFill>
              </a:defRPr>
            </a:pPr>
            <a:r>
              <a:rPr sz="1500" b="0">
                <a:solidFill>
                  <a:srgbClr val="0B0B0D"/>
                </a:solidFill>
              </a:rPr>
              <a:t>Healthchecks und Readiness-Probes in Compose/Kubernetes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C917F-4E81-4323-8D15-671BBEB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48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E146F-0805-4C42-9B7A-9DE90F23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D"/>
                </a:solidFill>
              </a:defRPr>
            </a:pPr>
            <a:r>
              <a:rPr sz="1500" b="0">
                <a:solidFill>
                  <a:srgbClr val="0B0B0D"/>
                </a:solidFill>
              </a:rPr>
              <a:t>JMH- und Gatling-Dateien fuer Performance-Nachweise</a:t>
            </a:r>
          </a:p>
        </p:txBody>
      </p:sp>
    </p:spTree>
    <p:extLst>
      <p:ext uri="{BB962C8B-B14F-4D97-AF65-F5344CB8AC3E}">
        <p14:creationId xmlns:p14="http://schemas.microsoft.com/office/powerpoint/2010/main" val="1776703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ACA8CE-BE35-4FC0-9E7A-5E04E7DF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TiChess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28189-0EAF-4EA6-A024-A36FB34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 / Schluss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AEC31-345E-4A44-8C21-17B47D15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B0D"/>
                </a:solidFill>
              </a:defRPr>
            </a:pPr>
            <a:r>
              <a:rPr sz="3150" b="1">
                <a:solidFill>
                  <a:srgbClr val="0B0B0D"/>
                </a:solidFill>
              </a:rPr>
              <a:t>Schlussbild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712C5-028C-44DB-84D9-0D36D873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B0D"/>
                </a:solidFill>
              </a:defRPr>
            </a:pPr>
            <a:r>
              <a:rPr sz="2250" b="1">
                <a:solidFill>
                  <a:srgbClr val="0B0B0D"/>
                </a:solidFill>
              </a:rPr>
              <a:t>Unser besonderer Punkt ist der Systemblick: KI half beim Bauen, aber die Architektur zwingt den Code in pruefbare Grenzen.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31DB1-5A3A-4CA9-B6E8-941E4CB0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F76BB-2070-4032-A6A7-3CC29EDF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D"/>
                </a:solidFill>
              </a:defRPr>
            </a:pPr>
            <a:r>
              <a:rPr sz="1800" b="1">
                <a:solidFill>
                  <a:srgbClr val="0B0B0D"/>
                </a:solidFill>
              </a:rPr>
              <a:t>Nicht jeder Service kennt Schachregeln.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6D434-010B-46E3-BA66-5018C3F6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Model bleibt Fachkern.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EEC8D-739B-4166-A9FF-B655C04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D"/>
                </a:solidFill>
              </a:defRPr>
            </a:pPr>
            <a:r>
              <a:rPr sz="1800" b="1">
                <a:solidFill>
                  <a:srgbClr val="0B0B0D"/>
                </a:solidFill>
              </a:rPr>
              <a:t>Nicht jeder Fehler ist ein Absturz.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9698-63D7-491D-81D7-2C5F4FA4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Streams behandeln Parserfehler als Ergebnis.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99A4C-98E5-458F-B0D5-45AADF99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D"/>
                </a:solidFill>
              </a:defRPr>
            </a:pPr>
            <a:r>
              <a:rPr sz="1800" b="1">
                <a:solidFill>
                  <a:srgbClr val="0B0B0D"/>
                </a:solidFill>
              </a:rPr>
              <a:t>Nicht jede Statistik ist Dummy-Daten.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87DA5-4CC9-4E3C-B7F7-E7D01B1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Spark liest echte GameFinished-Events.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C5FA6-192C-463C-9349-8D1B4F30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D"/>
                </a:solidFill>
              </a:defRPr>
            </a:pPr>
            <a:r>
              <a:rPr sz="1800" b="1">
                <a:solidFill>
                  <a:srgbClr val="0B0B0D"/>
                </a:solidFill>
              </a:rPr>
              <a:t>Nicht jeder Bot ist nur Random/Minimax.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06922-192F-402C-B1A3-0845C27A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Opening DB, TT, Syzygy und externe Bot-APIs.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BA30B-3AB9-4CDD-AAFA-4E1B589C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043C5-04D6-48D7-BFD3-718DF3E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B0D"/>
                </a:solidFill>
              </a:defRPr>
            </a:pPr>
            <a:r>
              <a:rPr sz="1425" b="1">
                <a:solidFill>
                  <a:srgbClr val="0B0B0D"/>
                </a:solidFill>
              </a:rPr>
              <a:t>Demo, falls Zeit bleibt: Stream-DSL oder Statistik-Tab nach Aufgabe einer Partie.</a:t>
            </a:r>
          </a:p>
        </p:txBody>
      </p:sp>
    </p:spTree>
    <p:extLst>
      <p:ext uri="{BB962C8B-B14F-4D97-AF65-F5344CB8AC3E}">
        <p14:creationId xmlns:p14="http://schemas.microsoft.com/office/powerpoint/2010/main" val="2060456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2026-06-30T11:53:03.8300000Z</dcterms:created>
  <dcterms:modified xsi:type="dcterms:W3CDTF">2026-06-30T11:53:03.8300000Z</dcterms:modified>
</coreProperties>
</file>