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Extenda 30 Deca" charset="1" panose="020B0003020200000002"/>
      <p:regular r:id="rId13"/>
    </p:embeddedFont>
    <p:embeddedFont>
      <p:font typeface="Neue Montreal Bold" charset="1" panose="00000400000000000000"/>
      <p:regular r:id="rId14"/>
    </p:embeddedFont>
    <p:embeddedFont>
      <p:font typeface="Neue Montreal Medium" charset="1" panose="000004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6348558" y="1375803"/>
            <a:ext cx="11930138" cy="8947603"/>
          </a:xfrm>
          <a:custGeom>
            <a:avLst/>
            <a:gdLst/>
            <a:ahLst/>
            <a:cxnLst/>
            <a:rect r="r" b="b" t="t" l="l"/>
            <a:pathLst>
              <a:path h="8947603" w="11930138">
                <a:moveTo>
                  <a:pt x="0" y="0"/>
                </a:moveTo>
                <a:lnTo>
                  <a:pt x="11930137" y="0"/>
                </a:lnTo>
                <a:lnTo>
                  <a:pt x="11930137" y="8947603"/>
                </a:lnTo>
                <a:lnTo>
                  <a:pt x="0" y="894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9281" y="-266700"/>
            <a:ext cx="10511390" cy="530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67"/>
              </a:lnSpc>
              <a:spcBef>
                <a:spcPct val="0"/>
              </a:spcBef>
            </a:pPr>
            <a:r>
              <a:rPr lang="en-US"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SOFTWARE</a:t>
            </a:r>
          </a:p>
          <a:p>
            <a:pPr algn="l" marL="0" indent="0" lvl="0">
              <a:lnSpc>
                <a:spcPts val="21267"/>
              </a:lnSpc>
              <a:spcBef>
                <a:spcPct val="0"/>
              </a:spcBef>
            </a:pPr>
            <a:r>
              <a:rPr lang="en-US"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ARCHITEKTUR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281" y="9393587"/>
            <a:ext cx="2905622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1209" y="9393587"/>
            <a:ext cx="1888091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05798" y="1028700"/>
            <a:ext cx="3942817" cy="8229600"/>
            <a:chOff x="0" y="0"/>
            <a:chExt cx="610845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846" cy="1274980"/>
            </a:xfrm>
            <a:custGeom>
              <a:avLst/>
              <a:gdLst/>
              <a:ahLst/>
              <a:cxnLst/>
              <a:rect r="r" b="b" t="t" l="l"/>
              <a:pathLst>
                <a:path h="1274980" w="610846">
                  <a:moveTo>
                    <a:pt x="45162" y="0"/>
                  </a:moveTo>
                  <a:lnTo>
                    <a:pt x="565684" y="0"/>
                  </a:lnTo>
                  <a:cubicBezTo>
                    <a:pt x="590626" y="0"/>
                    <a:pt x="610846" y="20220"/>
                    <a:pt x="610846" y="45162"/>
                  </a:cubicBezTo>
                  <a:lnTo>
                    <a:pt x="610846" y="1229819"/>
                  </a:lnTo>
                  <a:cubicBezTo>
                    <a:pt x="610846" y="1254761"/>
                    <a:pt x="590626" y="1274980"/>
                    <a:pt x="565684" y="1274980"/>
                  </a:cubicBezTo>
                  <a:lnTo>
                    <a:pt x="45162" y="1274980"/>
                  </a:lnTo>
                  <a:cubicBezTo>
                    <a:pt x="20220" y="1274980"/>
                    <a:pt x="0" y="1254761"/>
                    <a:pt x="0" y="1229819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99" r="0" b="-29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25430" y="6534609"/>
            <a:ext cx="12433870" cy="2129547"/>
            <a:chOff x="0" y="0"/>
            <a:chExt cx="3274764" cy="5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74764" cy="560868"/>
            </a:xfrm>
            <a:custGeom>
              <a:avLst/>
              <a:gdLst/>
              <a:ahLst/>
              <a:cxnLst/>
              <a:rect r="r" b="b" t="t" l="l"/>
              <a:pathLst>
                <a:path h="560868" w="3274764">
                  <a:moveTo>
                    <a:pt x="31755" y="0"/>
                  </a:moveTo>
                  <a:lnTo>
                    <a:pt x="3243009" y="0"/>
                  </a:lnTo>
                  <a:cubicBezTo>
                    <a:pt x="3251431" y="0"/>
                    <a:pt x="3259508" y="3346"/>
                    <a:pt x="3265463" y="9301"/>
                  </a:cubicBezTo>
                  <a:cubicBezTo>
                    <a:pt x="3271419" y="15256"/>
                    <a:pt x="3274764" y="23333"/>
                    <a:pt x="3274764" y="31755"/>
                  </a:cubicBezTo>
                  <a:lnTo>
                    <a:pt x="3274764" y="529113"/>
                  </a:lnTo>
                  <a:cubicBezTo>
                    <a:pt x="3274764" y="537535"/>
                    <a:pt x="3271419" y="545612"/>
                    <a:pt x="3265463" y="551567"/>
                  </a:cubicBezTo>
                  <a:cubicBezTo>
                    <a:pt x="3259508" y="557523"/>
                    <a:pt x="3251431" y="560868"/>
                    <a:pt x="3243009" y="560868"/>
                  </a:cubicBezTo>
                  <a:lnTo>
                    <a:pt x="31755" y="560868"/>
                  </a:lnTo>
                  <a:cubicBezTo>
                    <a:pt x="23333" y="560868"/>
                    <a:pt x="15256" y="557523"/>
                    <a:pt x="9301" y="551567"/>
                  </a:cubicBezTo>
                  <a:cubicBezTo>
                    <a:pt x="3346" y="545612"/>
                    <a:pt x="0" y="537535"/>
                    <a:pt x="0" y="529113"/>
                  </a:cubicBezTo>
                  <a:lnTo>
                    <a:pt x="0" y="31755"/>
                  </a:lnTo>
                  <a:cubicBezTo>
                    <a:pt x="0" y="23333"/>
                    <a:pt x="3346" y="15256"/>
                    <a:pt x="9301" y="9301"/>
                  </a:cubicBezTo>
                  <a:cubicBezTo>
                    <a:pt x="15256" y="3346"/>
                    <a:pt x="23333" y="0"/>
                    <a:pt x="31755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274764" cy="608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06385" y="1028700"/>
            <a:ext cx="3942817" cy="8229600"/>
            <a:chOff x="0" y="0"/>
            <a:chExt cx="610845" cy="1274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846" cy="1274980"/>
            </a:xfrm>
            <a:custGeom>
              <a:avLst/>
              <a:gdLst/>
              <a:ahLst/>
              <a:cxnLst/>
              <a:rect r="r" b="b" t="t" l="l"/>
              <a:pathLst>
                <a:path h="1274980" w="610846">
                  <a:moveTo>
                    <a:pt x="45162" y="0"/>
                  </a:moveTo>
                  <a:lnTo>
                    <a:pt x="565684" y="0"/>
                  </a:lnTo>
                  <a:cubicBezTo>
                    <a:pt x="590626" y="0"/>
                    <a:pt x="610846" y="20220"/>
                    <a:pt x="610846" y="45162"/>
                  </a:cubicBezTo>
                  <a:lnTo>
                    <a:pt x="610846" y="1229819"/>
                  </a:lnTo>
                  <a:cubicBezTo>
                    <a:pt x="610846" y="1254761"/>
                    <a:pt x="590626" y="1274980"/>
                    <a:pt x="565684" y="1274980"/>
                  </a:cubicBezTo>
                  <a:lnTo>
                    <a:pt x="45162" y="1274980"/>
                  </a:lnTo>
                  <a:cubicBezTo>
                    <a:pt x="20220" y="1274980"/>
                    <a:pt x="0" y="1254761"/>
                    <a:pt x="0" y="1229819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99" r="0" b="-29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80665" y="2301903"/>
            <a:ext cx="8922122" cy="23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99"/>
              </a:lnSpc>
            </a:pPr>
            <a:r>
              <a:rPr lang="en-US" sz="1911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PROJEKTÜBERBLICK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0665" y="4228289"/>
            <a:ext cx="9378635" cy="193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TiChess ist ein Schachprojekt in Scala 3.3.4. Es kombiniert vollständige Schachlogik, FEN/PGN-Unterstützung, mehrere Oberflächen und einen Docker-/Kubernetes-fähigen Service-Stack. Die Architektur trennt Fachlogik, Spielzustand, Darstellung, Streaming und Analytics klar voneinander.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81942" y="6808173"/>
            <a:ext cx="11520846" cy="154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Hauptfunktionalitäten: legale Züge inkl. Rochade, en passant, Promotion, Matt, Patt und 50-Züge-Regel; FEN/PGN-Import und -Export; Persistenz über Datenbank; Web-UI, Console-UI und ScalaFX-GUI; Puzzle-/Challenge-Training; Bot-Anbindung an Lichess und NowChess-Turnierserver.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704975"/>
            <a:ext cx="5767744" cy="385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97"/>
              </a:lnSpc>
            </a:pPr>
            <a:r>
              <a:rPr lang="en-US"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ARCHITEKTUR-</a:t>
            </a:r>
          </a:p>
          <a:p>
            <a:pPr algn="l" marL="0" indent="0" lvl="0">
              <a:lnSpc>
                <a:spcPts val="14297"/>
              </a:lnSpc>
            </a:pPr>
            <a:r>
              <a:rPr lang="en-US"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ÜBERSICHT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322485" y="4343728"/>
            <a:ext cx="11029769" cy="10126027"/>
          </a:xfrm>
          <a:custGeom>
            <a:avLst/>
            <a:gdLst/>
            <a:ahLst/>
            <a:cxnLst/>
            <a:rect r="r" b="b" t="t" l="l"/>
            <a:pathLst>
              <a:path h="10126027" w="11029769">
                <a:moveTo>
                  <a:pt x="0" y="0"/>
                </a:moveTo>
                <a:lnTo>
                  <a:pt x="11029769" y="0"/>
                </a:lnTo>
                <a:lnTo>
                  <a:pt x="11029769" y="10126027"/>
                </a:lnTo>
                <a:lnTo>
                  <a:pt x="0" y="10126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32460"/>
            <a:ext cx="1444579" cy="38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285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5331" y="2052133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Docker-Anwendung ist in fünf Services gegliedert: model-service für Regeln, controller-service für Zustand und Persistenz, view-service für die Weboberfläche, stream-service für DSL/Kafka-Verarbeitung und spark-analytics für Bestenlisten.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5331" y="159874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SERVICE-ARCHITEKTUR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5331" y="7858343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Servicegrenzen verhindern, dass Streaming, UI oder Analytics Schachregeln duplizieren. Der Controller ruft das Model per HTTP auf, publiziert fachliche Game-Events nach Kafka und lädt bzw. speichert Spielzustände über MongoDB.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5331" y="740495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ARCHITEKTURPRINZIPIEN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5331" y="3980180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Zusätzliche Pfade docken über Schnittstellen an: Akka Streams verarbeitet eine externe Schach-DSL, Kafka transportiert Kommandos und Events, Spark Structured Streaming aggregiert abgeschlossene Partien zu White/Black-Statistiken.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5331" y="3526790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MODULSTRUKTUR &amp; BEZIEHUNGEN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5331" y="5919262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Technologien: Scala 3.3.4, Akka HTTP, Akka Streams, Alpakka Kafka, Spark SQL/Structured Streaming, MongoDB, Slick/PostgreSQL/H2, ScalaFX, Docker Compose, Kubernetes/k3d, Gatling und JMH.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5331" y="5465872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VERWENDETE TECHNOLOGIEN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67744" cy="501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KERN-</a:t>
            </a:r>
          </a:p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KOMPO-</a:t>
            </a:r>
          </a:p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NENTEN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246627" y="4663240"/>
            <a:ext cx="12233733" cy="8961210"/>
          </a:xfrm>
          <a:custGeom>
            <a:avLst/>
            <a:gdLst/>
            <a:ahLst/>
            <a:cxnLst/>
            <a:rect r="r" b="b" t="t" l="l"/>
            <a:pathLst>
              <a:path h="8961210" w="12233733">
                <a:moveTo>
                  <a:pt x="0" y="0"/>
                </a:moveTo>
                <a:lnTo>
                  <a:pt x="12233733" y="0"/>
                </a:lnTo>
                <a:lnTo>
                  <a:pt x="12233733" y="8961209"/>
                </a:lnTo>
                <a:lnTo>
                  <a:pt x="0" y="8961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5331" y="2061658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Model-Service und Domänenmodell prüfen legale Züge, Schach, Matt, Patt, Rochade, en passant, Promotion und 50-Züge-Regel. Der Service arbeitet zustandslos auf Basis von FEN und gibt neue Spielzustände zurück.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5331" y="159874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MODEL-SERVICE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5331" y="7867868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Stream-Service verarbeitet mehrzeilige Schachkommandos per Akka Streams. Derselbe Validierungsfluss kann direkt per HTTP laufen oder über Kafka Topics tichess.commands und tichess.events.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5331" y="740495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STREAMING &amp; KAFKA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5331" y="3989705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Der Bot nutzt Alpha-Beta/Negamax mit Zeitbudget, Move Ordering, Transposition Table über Zobrist-Hash, Opening Database, Pesto-Bewertung und optional Syzygy-Endspiel-Tablebases.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5331" y="3526790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SCHACH-BOT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5331" y="5928787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View-Service liefert die Weboberfläche aus und kommuniziert per HTTP mit dem Controller. Zusätzlich existieren Console-UI und lokale ScalaFX-GUI als alternative Bedienoberflächen.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5331" y="5465872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VIEW-SERVICE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<p:cSld><p:bg><p:bgPr><a:solidFill><a:srgbClr val="F2EFEB"/></a:solidFill></p:bgPr></p:bg><p:spTree><p:nvGrpSpPr><p:cNvPr id="1" name=""/><p:cNvGrpSpPr/><p:nvPr/></p:nvGrpSpPr><p:grpSpPr><a:xfrm><a:off x="0" y="0"/><a:ext cx="0" cy="0"/><a:chOff x="0" y="0"/><a:chExt cx="0" cy="0"/></a:xfrm></p:grpSpPr><p:grpSp><p:nvGrpSpPr><p:cNvPr name="Group 2" id="2"/><p:cNvGrpSpPr/><p:nvPr/></p:nvGrpSpPr><p:grpSpPr><a:xfrm rot="0"><a:off x="15371209" y="552114"/><a:ext cx="1888091" cy="595031"/><a:chOff x="0" y="0"/><a:chExt cx="497275" cy="156716"/></a:xfrm></p:grpSpPr><p:sp><p:nvSpPr><p:cNvPr name="Freeform 3" id="3"/><p:cNvSpPr/><p:nvPr/></p:nvSpPr><p:spPr><a:xfrm flipH="false" flipV="false" rot="0"><a:off x="0" y="0"/><a:ext cx="497275" cy="156716"/></a:xfrm><a:custGeom><a:avLst/><a:gdLst/><a:ahLst/><a:cxnLst/><a:rect r="r" b="b" t="t" l="l"/><a:pathLst><a:path h="156716" w="497275"><a:moveTo><a:pt x="78358" y="0"/></a:moveTo><a:lnTo><a:pt x="418917" y="0"/></a:lnTo><a:cubicBezTo><a:pt x="462193" y="0"/><a:pt x="497275" y="35082"/><a:pt x="497275" y="78358"/></a:cubicBezTo><a:lnTo><a:pt x="497275" y="78358"/></a:lnTo><a:cubicBezTo><a:pt x="497275" y="121634"/><a:pt x="462193" y="156716"/><a:pt x="418917" y="156716"/></a:cubicBezTo><a:lnTo><a:pt x="78358" y="156716"/></a:lnTo><a:cubicBezTo><a:pt x="35082" y="156716"/><a:pt x="0" y="121634"/><a:pt x="0" y="78358"/></a:cubicBezTo><a:lnTo><a:pt x="0" y="78358"/></a:lnTo><a:cubicBezTo><a:pt x="0" y="35082"/><a:pt x="35082" y="0"/><a:pt x="78358" y="0"/></a:cubicBezTo><a:close/></a:path></a:pathLst></a:custGeom><a:solidFill><a:srgbClr val="FF3131"/></a:solidFill></p:spPr></p:sp><p:sp><p:nvSpPr><p:cNvPr name="TextBox 4" id="4"/><p:cNvSpPr txBox="true"/><p:nvPr/></p:nvSpPr><p:spPr><a:xfrm><a:off x="0" y="-47625"/><a:ext cx="497275" cy="204341"/></a:xfrm><a:prstGeom prst="rect"><a:avLst/></a:prstGeom></p:spPr><p:txBody><a:bodyPr anchor="ctr" rtlCol="false" tIns="50800" lIns="50800" bIns="50800" rIns="50800"/><a:lstStyle/><a:p><a:pPr algn="ctr" marL="0" indent="0" lvl="0"><a:lnSpc><a:spcPts val="3359"/></a:lnSpc></a:pPr></a:p></p:txBody></p:sp></p:grpSp><p:sp><p:nvSpPr><p:cNvPr name="TextBox 5" id="5"/><p:cNvSpPr txBox="true"/><p:nvPr/></p:nvSpPr><p:spPr><a:xfrm rot="0"><a:off x="1028700" y="1619250"/><a:ext cx="5772150" cy="1812508"/></a:xfrm><a:prstGeom prst="rect"><a:avLst/></a:prstGeom></p:spPr><p:txBody><a:bodyPr anchor="t" rtlCol="false" tIns="0" lIns="0" bIns="0" rIns="0"><a:spAutoFit/></a:bodyPr><a:lstStyle/><a:p><a:pPr algn="l" marL="0" indent="0" lvl="0"><a:lnSpc><a:spcPts val="12624"/></a:lnSpc><a:spcBef><a:spcPct val="0"/></a:spcBef></a:pPr><a:r><a:rPr lang="en-US" sz="15780" strike="noStrike" u="none"><a:solidFill><a:srgbClr val="FF3131"/></a:solidFill><a:latin typeface="Extenda 30 Deca"/><a:ea typeface="Extenda 30 Deca"/><a:cs typeface="Extenda 30 Deca"/><a:sym typeface="Extenda 30 Deca"/></a:rPr><a:t>WEB-UI</a:t></a:r></a:p></p:txBody></p:sp><p:sp><p:nvSpPr><p:cNvPr name="TextBox 6" id="6"/><p:cNvSpPr txBox="true"/><p:nvPr/></p:nvSpPr><p:spPr><a:xfrm rot="0"><a:off x="447675" y="9391650"/><a:ext cx="2914650" cy="405765"/></a:xfrm><a:prstGeom prst="rect"><a:avLst/></a:prstGeom></p:spPr><p:txBody><a:bodyPr anchor="t" rtlCol="false" tIns="0" lIns="0" bIns="0" rIns="0"><a:spAutoFit/></a:bodyPr><a:lstStyle/><a:p><a:pPr algn="l" marL="0" indent="0" lvl="0"><a:lnSpc><a:spcPts val="3359"/></a:lnSpc><a:spcBef><a:spcPct val="0"/></a:spcBef></a:pPr><a:r><a:rPr lang="en-US" b="true" sz="2400" strike="noStrike" u="none"><a:solidFill><a:srgbClr val="F2EFEB"/></a:solidFill><a:latin typeface="Neue Montreal Bold"/><a:ea typeface="Neue Montreal Bold"/><a:cs typeface="Neue Montreal Bold"/><a:sym typeface="Neue Montreal Bold"/></a:rPr><a:t>Tim Brutscher</a:t></a:r></a:p></p:txBody></p:sp><p:sp><p:nvSpPr><p:cNvPr name="TextBox 7" id="7"/><p:cNvSpPr txBox="true"/><p:nvPr/></p:nvSpPr><p:spPr><a:xfrm rot="0"><a:off x="15373350" y="9391650"/><a:ext cx="1895475" cy="405765"/></a:xfrm><a:prstGeom prst="rect"><a:avLst/></a:prstGeom></p:spPr><p:txBody><a:bodyPr anchor="t" rtlCol="false" tIns="0" lIns="0" bIns="0" rIns="0"><a:spAutoFit/></a:bodyPr><a:lstStyle/><a:p><a:pPr algn="r" marL="0" indent="0" lvl="0"><a:lnSpc><a:spcPts val="3359"/></a:lnSpc><a:spcBef><a:spcPct val="0"/></a:spcBef></a:pPr><a:r><a:rPr lang="en-US" b="true" sz="2400" strike="noStrike" u="none"><a:solidFill><a:srgbClr val="FF3131"/></a:solidFill><a:latin typeface="Neue Montreal Bold"/><a:ea typeface="Neue Montreal Bold"/><a:cs typeface="Neue Montreal Bold"/><a:sym typeface="Neue Montreal Bold"/></a:rPr><a:t>2026</a:t></a:r></a:p></p:txBody></p:sp><p:sp><p:nvSpPr><p:cNvPr name="TextBox 8" id="8"/><p:cNvSpPr txBox="true"/><p:nvPr/></p:nvSpPr><p:spPr><a:xfrm rot="0"><a:off x="15592425" y="619125"/><a:ext cx="1447800" cy="405765"/></a:xfrm><a:prstGeom prst="rect"><a:avLst/></a:prstGeom></p:spPr><p:txBody><a:bodyPr anchor="t" rtlCol="false" tIns="0" lIns="0" bIns="0" rIns="0"><a:spAutoFit/></a:bodyPr><a:lstStyle/><a:p><a:pPr algn="ctr" marL="0" indent="0" lvl="0"><a:lnSpc><a:spcPts val="3359"/></a:lnSpc><a:spcBef><a:spcPct val="0"/></a:spcBef></a:pPr><a:r><a:rPr lang="en-US" b="true" sz="2400" strike="noStrike" u="none"><a:solidFill><a:srgbClr val="F2EFEB"/></a:solidFill><a:latin typeface="Neue Montreal Medium"/><a:ea typeface="Neue Montreal Medium"/><a:cs typeface="Neue Montreal Medium"/><a:sym typeface="Neue Montreal Medium"/></a:rPr><a:t>Slide 05</a:t></a:r></a:p></p:txBody></p:sp><p:sp><p:nvSpPr><p:cNvPr name="TextBox 9" id="9"/><p:cNvSpPr txBox="true"/><p:nvPr/></p:nvSpPr><p:spPr><a:xfrm rot="0"><a:off x="7543800" y="2057400"/><a:ext cx="9715500" cy="763270"/></a:xfrm><a:prstGeom prst="rect"><a:avLst/></a:prstGeom></p:spPr><p:txBody><a:bodyPr anchor="t" rtlCol="false" tIns="0" lIns="0" bIns="0" rIns="0"><a:spAutoFit/></a:bodyPr><a:lstStyle/><a:p><a:pPr algn="l" marL="0" indent="0" lvl="0"><a:lnSpc><a:spcPts val="3079"/></a:lnSpc><a:spcBef><a:spcPct val="0"/></a:spcBef></a:pPr><a:r><a:rPr lang="en-US" b="true" sz="2199" strike="noStrike" u="none"><a:solidFill><a:srgbClr val="000000"/></a:solidFill><a:latin typeface="Neue Montreal Medium"/><a:ea typeface="Neue Montreal Medium"/><a:cs typeface="Neue Montreal Medium"/><a:sym typeface="Neue Montreal Medium"/></a:rPr><a:t>Die Web-UI ist als Web Chess Console aufgebaut. Links liegen die Reiter Spiel, Notation, Training, Turnier und Statistik; jeder Reiter ruft gezielt Controller-Endpunkte auf.</a:t></a:r></a:p></p:txBody></p:sp><p:sp><p:nvSpPr><p:cNvPr name="TextBox 10" id="10"/><p:cNvSpPr txBox="true"/><p:nvPr/></p:nvSpPr><p:spPr><a:xfrm rot="0"><a:off x="7543800" y="1600200"/><a:ext cx="7648575" cy="405765"/></a:xfrm><a:prstGeom prst="rect"><a:avLst/></a:prstGeom></p:spPr><p:txBody><a:bodyPr anchor="t" rtlCol="false" tIns="0" lIns="0" bIns="0" rIns="0"><a:spAutoFit/></a:bodyPr><a:lstStyle/><a:p><a:pPr algn="l" marL="0" indent="0" lvl="0"><a:lnSpc><a:spcPts val="3359"/></a:lnSpc><a:spcBef><a:spcPct val="0"/></a:spcBef></a:pPr><a:r><a:rPr lang="en-US" b="true" sz="2400" strike="noStrike" u="none"><a:solidFill><a:srgbClr val="FF3131"/></a:solidFill><a:latin typeface="Neue Montreal Bold"/><a:ea typeface="Neue Montreal Bold"/><a:cs typeface="Neue Montreal Bold"/><a:sym typeface="Neue Montreal Bold"/></a:rPr><a:t>REITER-NAVIGATION</a:t></a:r></a:p></p:txBody></p:sp><p:sp><p:nvSpPr><p:cNvPr name="TextBox 11" id="11"/><p:cNvSpPr txBox="true"/><p:nvPr/></p:nvSpPr><p:spPr><a:xfrm rot="0"><a:off x="7543800" y="7867650"/><a:ext cx="9715500" cy="763270"/></a:xfrm><a:prstGeom prst="rect"><a:avLst/></a:prstGeom></p:spPr><p:txBody><a:bodyPr anchor="t" rtlCol="false" tIns="0" lIns="0" bIns="0" rIns="0"><a:spAutoFit/></a:bodyPr><a:lstStyle/><a:p><a:pPr algn="l" marL="0" indent="0" lvl="0"><a:lnSpc><a:spcPts val="3079"/></a:lnSpc><a:spcBef><a:spcPct val="0"/></a:spcBef></a:pPr><a:r><a:rPr lang="en-US" b="true" sz="2199" strike="noStrike" u="none"><a:solidFill><a:srgbClr val="000000"/></a:solidFill><a:latin typeface="Neue Montreal Medium"/><a:ea typeface="Neue Montreal Medium"/><a:cs typeface="Neue Montreal Medium"/><a:sym typeface="Neue Montreal Medium"/></a:rPr><a:t>Spiel: Brett, Uhr, Bot-Auswahl, Remis/Aufgabe/Neues Spiel und Zughistorie. Notation: Parser-Auswahl sowie FEN/PGN Import und Export.</a:t></a:r></a:p></p:txBody></p:sp><p:sp><p:nvSpPr><p:cNvPr name="TextBox 12" id="12"/><p:cNvSpPr txBox="true"/><p:nvPr/></p:nvSpPr><p:spPr><a:xfrm rot="0"><a:off x="7543800" y="7400925"/><a:ext cx="7648575" cy="405765"/></a:xfrm><a:prstGeom prst="rect"><a:avLst/></a:prstGeom></p:spPr><p:txBody><a:bodyPr anchor="t" rtlCol="false" tIns="0" lIns="0" bIns="0" rIns="0"><a:spAutoFit/></a:bodyPr><a:lstStyle/><a:p><a:pPr algn="l" marL="0" indent="0" lvl="0"><a:lnSpc><a:spcPts val="3359"/></a:lnSpc><a:spcBef><a:spcPct val="0"/></a:spcBef></a:pPr><a:r><a:rPr lang="en-US" b="true" sz="2400" strike="noStrike" u="none"><a:solidFill><a:srgbClr val="FF3131"/></a:solidFill><a:latin typeface="Neue Montreal Bold"/><a:ea typeface="Neue Montreal Bold"/><a:cs typeface="Neue Montreal Bold"/><a:sym typeface="Neue Montreal Bold"/></a:rPr><a:t>SPIEL &amp; NOTATION</a:t></a:r></a:p></p:txBody></p:sp><p:sp><p:nvSpPr><p:cNvPr name="TextBox 13" id="13"/><p:cNvSpPr txBox="true"/><p:nvPr/></p:nvSpPr><p:spPr><a:xfrm rot="0"><a:off x="7543800" y="3990975"/><a:ext cx="9715500" cy="763270"/></a:xfrm><a:prstGeom prst="rect"><a:avLst/></a:prstGeom></p:spPr><p:txBody><a:bodyPr anchor="t" rtlCol="false" tIns="0" lIns="0" bIns="0" rIns="0"><a:spAutoFit/></a:bodyPr><a:lstStyle/><a:p><a:pPr algn="l" marL="0" indent="0" lvl="0"><a:lnSpc><a:spcPts val="3079"/></a:lnSpc><a:spcBef><a:spcPct val="0"/></a:spcBef></a:pPr><a:r><a:rPr lang="en-US" b="true" sz="2199" strike="noStrike" u="none"><a:solidFill><a:srgbClr val="000000"/></a:solidFill><a:latin typeface="Neue Montreal Medium"/><a:ea typeface="Neue Montreal Medium"/><a:cs typeface="Neue Montreal Medium"/><a:sym typeface="Neue Montreal Medium"/></a:rPr><a:t>Training lädt Random Challenges aus den Puzzle-/Challenge-Daten. Turnier verbindet sich mit dem NowChess-Turnierserver und verfolgt Turniere per Stream.</a:t></a:r></a:p></p:txBody></p:sp><p:sp><p:nvSpPr><p:cNvPr name="TextBox 14" id="14"/><p:cNvSpPr txBox="true"/><p:nvPr/></p:nvSpPr><p:spPr><a:xfrm rot="0"><a:off x="7543800" y="3524250"/><a:ext cx="7648575" cy="405765"/></a:xfrm><a:prstGeom prst="rect"><a:avLst/></a:prstGeom></p:spPr><p:txBody><a:bodyPr anchor="t" rtlCol="false" tIns="0" lIns="0" bIns="0" rIns="0"><a:spAutoFit/></a:bodyPr><a:lstStyle/><a:p><a:pPr algn="l" marL="0" indent="0" lvl="0"><a:lnSpc><a:spcPts val="3359"/></a:lnSpc><a:spcBef><a:spcPct val="0"/></a:spcBef></a:pPr><a:r><a:rPr lang="en-US" b="true" sz="2400" strike="noStrike" u="none"><a:solidFill><a:srgbClr val="FF3131"/></a:solidFill><a:latin typeface="Neue Montreal Bold"/><a:ea typeface="Neue Montreal Bold"/><a:cs typeface="Neue Montreal Bold"/><a:sym typeface="Neue Montreal Bold"/></a:rPr><a:t>TRAINING &amp; TURNIER</a:t></a:r></a:p></p:txBody></p:sp><p:sp><p:nvSpPr><p:cNvPr name="TextBox 15" id="15"/><p:cNvSpPr txBox="true"/><p:nvPr/></p:nvSpPr><p:spPr><a:xfrm rot="0"><a:off x="7543800" y="5924550"/><a:ext cx="9715500" cy="763270"/></a:xfrm><a:prstGeom prst="rect"><a:avLst/></a:prstGeom></p:spPr><p:txBody><a:bodyPr anchor="t" rtlCol="false" tIns="0" lIns="0" bIns="0" rIns="0"><a:spAutoFit/></a:bodyPr><a:lstStyle/><a:p><a:pPr algn="l" marL="0" indent="0" lvl="0"><a:lnSpc><a:spcPts val="3079"/></a:lnSpc><a:spcBef><a:spcPct val="0"/></a:spcBef></a:pPr><a:r><a:rPr lang="en-US" b="true" sz="2199" strike="noStrike" u="none"><a:solidFill><a:srgbClr val="000000"/></a:solidFill><a:latin typeface="Neue Montreal Medium"/><a:ea typeface="Neue Montreal Medium"/><a:cs typeface="Neue Montreal Medium"/><a:sym typeface="Neue Montreal Medium"/></a:rPr><a:t>Statistik: Spark verarbeitet GameFinished-Events aus Kafka, schreibt White/Black-Punkte nach MongoDB und die Web-UI zeigt daraus die Bestenliste.</a:t></a:r></a:p></p:txBody></p:sp><p:sp><p:nvSpPr><p:cNvPr name="TextBox 16" id="16"/><p:cNvSpPr txBox="true"/><p:nvPr/></p:nvSpPr><p:spPr><a:xfrm rot="0"><a:off x="7543800" y="5467350"/><a:ext cx="7648575" cy="405765"/></a:xfrm><a:prstGeom prst="rect"><a:avLst/></a:prstGeom></p:spPr><p:txBody><a:bodyPr anchor="t" rtlCol="false" tIns="0" lIns="0" bIns="0" rIns="0"><a:spAutoFit/></a:bodyPr><a:lstStyle/><a:p><a:pPr algn="l" marL="0" indent="0" lvl="0"><a:lnSpc><a:spcPts val="3359"/></a:lnSpc><a:spcBef><a:spcPct val="0"/></a:spcBef></a:pPr><a:r><a:rPr lang="en-US" b="true" sz="2400" strike="noStrike" u="none"><a:solidFill><a:srgbClr val="FF3131"/></a:solidFill><a:latin typeface="Neue Montreal Bold"/><a:ea typeface="Neue Montreal Bold"/><a:cs typeface="Neue Montreal Bold"/><a:sym typeface="Neue Montreal Bold"/></a:rPr><a:t>SPARK-STATISTIK</a:t></a:r></a:p></p:txBody></p:sp>
<p:pic>
  <p:nvPicPr>
    <p:cNvPr id="101" name="TiChess Web UI Gesamtansicht"/>
    <p:cNvPicPr><a:picLocks noChangeAspect="1"/></p:cNvPicPr>
    <p:nvPr/>
  </p:nvPicPr>
  <p:blipFill>
    <a:blip r:embed="rId2"/>
    <a:stretch><a:fillRect/></a:stretch>
  </p:blipFill>
  <p:spPr>
    <a:xfrm><a:off x="500000" y="3320000"/><a:ext cx="6400000" cy="3210500"/></a:xfrm>
    <a:prstGeom prst="rect"><a:avLst/></a:prstGeom>
  </p:spPr>
</p:pic></p:spTree></p:cSld><p:clrMapOvr><a:masterClrMapping/></p:clrMapOvr>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72150" cy="34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SCHACH-</a:t>
            </a:r>
          </a:p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BOT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92425" y="619125"/>
            <a:ext cx="14478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43800" y="205740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Alpha-Beta/Negamax-Suche mit Zeitbudget, iterativer Vertiefung, Move Ordering, Transposition Table und Null-Move-Pruning. Das Ziel ist gute Zugwahl innerhalb begrenzter Bedenkzeit.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3800" y="160020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ALGORITHMEN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3800" y="78676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OpeningDatabase und PgnOpeningDatabase nutzen PGN-Partien, um in der Eröffnung plausible Züge zu wählen und wiederkehrende Positionen über FEN/Normalisierung zu erkennen.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3800" y="7400925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ERÖFFNUNGSBIBLIOTHEK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3800" y="3990975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Bewertung kombiniert Material, Figurenaktivität, Königssicherheit, Bauernstruktur, Mobilität und Pesto Piece-Square-Tables mit Spielphasenmodell.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3800" y="35242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BEWERTUNGSFUNKTION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800" y="59245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Der Bot ist über Zeitbudget konfigurierbar und kann optional Syzygy-Tablebases per Python-Probe verwenden. Zusätzlich existieren Lichess- und NowChess-Turnierserver-Runner.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800" y="54673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INTEGRATIONEN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34422" y="2137780"/>
            <a:ext cx="6880833" cy="156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82"/>
              </a:lnSpc>
            </a:pPr>
            <a:r>
              <a:rPr lang="en-US" sz="12647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WEB-UI REITER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34422" y="4549680"/>
            <a:ext cx="7824878" cy="4432395"/>
            <a:chOff x="0" y="0"/>
            <a:chExt cx="2060873" cy="1167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0873" cy="1167380"/>
            </a:xfrm>
            <a:custGeom>
              <a:avLst/>
              <a:gdLst/>
              <a:ahLst/>
              <a:cxnLst/>
              <a:rect r="r" b="b" t="t" l="l"/>
              <a:pathLst>
                <a:path h="1167380" w="2060873">
                  <a:moveTo>
                    <a:pt x="50459" y="0"/>
                  </a:moveTo>
                  <a:lnTo>
                    <a:pt x="2010414" y="0"/>
                  </a:lnTo>
                  <a:cubicBezTo>
                    <a:pt x="2038282" y="0"/>
                    <a:pt x="2060873" y="22591"/>
                    <a:pt x="2060873" y="50459"/>
                  </a:cubicBezTo>
                  <a:lnTo>
                    <a:pt x="2060873" y="1116920"/>
                  </a:lnTo>
                  <a:cubicBezTo>
                    <a:pt x="2060873" y="1144788"/>
                    <a:pt x="2038282" y="1167380"/>
                    <a:pt x="2010414" y="1167380"/>
                  </a:cubicBezTo>
                  <a:lnTo>
                    <a:pt x="50459" y="1167380"/>
                  </a:lnTo>
                  <a:cubicBezTo>
                    <a:pt x="22591" y="1167380"/>
                    <a:pt x="0" y="1144788"/>
                    <a:pt x="0" y="1116920"/>
                  </a:cubicBezTo>
                  <a:lnTo>
                    <a:pt x="0" y="50459"/>
                  </a:lnTo>
                  <a:cubicBezTo>
                    <a:pt x="0" y="22591"/>
                    <a:pt x="22591" y="0"/>
                    <a:pt x="50459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60873" cy="121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42086">
            <a:off x="-2618579" y="406381"/>
            <a:ext cx="11638157" cy="11347203"/>
          </a:xfrm>
          <a:custGeom>
            <a:avLst/>
            <a:gdLst/>
            <a:ahLst/>
            <a:cxnLst/>
            <a:rect r="r" b="b" t="t" l="l"/>
            <a:pathLst>
              <a:path h="11347203" w="11638157">
                <a:moveTo>
                  <a:pt x="0" y="0"/>
                </a:moveTo>
                <a:lnTo>
                  <a:pt x="11638157" y="0"/>
                </a:lnTo>
                <a:lnTo>
                  <a:pt x="11638157" y="11347203"/>
                </a:lnTo>
                <a:lnTo>
                  <a:pt x="0" y="11347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7675" y="9401175"/>
            <a:ext cx="2914650" cy="2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b="true" sz="1439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73350" y="9401175"/>
            <a:ext cx="1895475" cy="2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15"/>
              </a:lnSpc>
              <a:spcBef>
                <a:spcPct val="0"/>
              </a:spcBef>
            </a:pPr>
            <a:r>
              <a:rPr lang="en-US" b="true" sz="1439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92965" y="632460"/>
            <a:ext cx="1444579" cy="24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0"/>
              </a:lnSpc>
              <a:spcBef>
                <a:spcPct val="0"/>
              </a:spcBef>
            </a:pPr>
            <a:r>
              <a:rPr lang="en-US" b="true" sz="1443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07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948965" y="4988187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48965" y="5936592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48965" y="6940585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48965" y="7944578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4"/>
                </a:lnTo>
                <a:lnTo>
                  <a:pt x="0" y="5848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911384" y="5028699"/>
            <a:ext cx="3800550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Notation: FastParse/Parser-Auswahl, FEN und PGN importieren oder exportieren.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1384" y="5977104"/>
            <a:ext cx="5029054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Training: Random Challenge lädt Puzzle-Stellungen und kann Hinweise anzeigen.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11384" y="6981097"/>
            <a:ext cx="5029054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Turnier: Server, Token und Turnier-ID; Streams starten, stoppen und verfolgen.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11384" y="7985091"/>
            <a:ext cx="5571223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Statistik: Spark-Bestenliste mit Spielen, Siegen, Remis, Niederlagen und Punkten.</a:t>
            </a:r>
          </a:p>
        </p:txBody>
      </p:sp>
      <p:pic>
        <p:nvPicPr>
          <p:cNvPr id="102" name="Notation Reit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000" y="1350000"/>
            <a:ext cx="2450000" cy="3793000"/>
          </a:xfrm>
          <a:prstGeom prst="rect">
            <a:avLst/>
          </a:prstGeom>
        </p:spPr>
      </p:pic>
      <p:pic>
        <p:nvPicPr>
          <p:cNvPr id="103" name="Training Reit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50000" y="1350000"/>
            <a:ext cx="5550000" cy="3191000"/>
          </a:xfrm>
          <a:prstGeom prst="rect">
            <a:avLst/>
          </a:prstGeom>
        </p:spPr>
      </p:pic>
      <p:pic>
        <p:nvPicPr>
          <p:cNvPr id="104" name="Turnier Rei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0000" y="4840000"/>
            <a:ext cx="5550000" cy="2619000"/>
          </a:xfrm>
          <a:prstGeom prst="rect">
            <a:avLst/>
          </a:prstGeom>
        </p:spPr>
      </p:pic>
      <p:pic>
        <p:nvPicPr>
          <p:cNvPr id="105" name="Statistik Rei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50000" y="7750000"/>
            <a:ext cx="5550000" cy="9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DAHODTeXJhE</dc:identifier>
  <dcterms:modified xsi:type="dcterms:W3CDTF">2011-08-01T06:04:30Z</dcterms:modified>
  <cp:revision>1</cp:revision>
  <dc:title>Präsentation: Softwarearchitektur Schach</dc:title>
</cp:coreProperties>
</file>