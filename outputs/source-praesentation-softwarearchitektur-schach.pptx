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</p:sldIdLst>
  <p:sldSz cx="18288000" cy="10287000"/>
  <p:notesSz cx="6858000" cy="9144000"/>
  <p:embeddedFontLst>
    <p:embeddedFont>
      <p:font typeface="Extenda 30 Deca" charset="1" panose="020B0003020200000002"/>
      <p:regular r:id="rId13"/>
    </p:embeddedFont>
    <p:embeddedFont>
      <p:font typeface="Neue Montreal Bold" charset="1" panose="00000400000000000000"/>
      <p:regular r:id="rId14"/>
    </p:embeddedFont>
    <p:embeddedFont>
      <p:font typeface="Neue Montreal Medium" charset="1" panose="0000040000000000000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fonts/font13.fntdata" Type="http://schemas.openxmlformats.org/officeDocument/2006/relationships/font"/><Relationship Id="rId14" Target="fonts/font14.fntdata" Type="http://schemas.openxmlformats.org/officeDocument/2006/relationships/font"/><Relationship Id="rId15" Target="fonts/font15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3.png" Type="http://schemas.openxmlformats.org/officeDocument/2006/relationships/image"/><Relationship Id="rId3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10" Target="../media/image15.svg" Type="http://schemas.openxmlformats.org/officeDocument/2006/relationships/image"/><Relationship Id="rId2" Target="../media/image7.png" Type="http://schemas.openxmlformats.org/officeDocument/2006/relationships/image"/><Relationship Id="rId3" Target="../media/image8.png" Type="http://schemas.openxmlformats.org/officeDocument/2006/relationships/image"/><Relationship Id="rId4" Target="../media/image9.svg" Type="http://schemas.openxmlformats.org/officeDocument/2006/relationships/image"/><Relationship Id="rId5" Target="../media/image10.png" Type="http://schemas.openxmlformats.org/officeDocument/2006/relationships/image"/><Relationship Id="rId6" Target="../media/image11.svg" Type="http://schemas.openxmlformats.org/officeDocument/2006/relationships/image"/><Relationship Id="rId7" Target="../media/image12.png" Type="http://schemas.openxmlformats.org/officeDocument/2006/relationships/image"/><Relationship Id="rId8" Target="../media/image13.svg" Type="http://schemas.openxmlformats.org/officeDocument/2006/relationships/image"/><Relationship Id="rId9" Target="../media/image14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371209" y="552114"/>
            <a:ext cx="1888091" cy="595031"/>
            <a:chOff x="0" y="0"/>
            <a:chExt cx="497275" cy="1567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7275" cy="156716"/>
            </a:xfrm>
            <a:custGeom>
              <a:avLst/>
              <a:gdLst/>
              <a:ahLst/>
              <a:cxnLst/>
              <a:rect r="r" b="b" t="t" l="l"/>
              <a:pathLst>
                <a:path h="156716" w="497275">
                  <a:moveTo>
                    <a:pt x="78358" y="0"/>
                  </a:moveTo>
                  <a:lnTo>
                    <a:pt x="418917" y="0"/>
                  </a:lnTo>
                  <a:cubicBezTo>
                    <a:pt x="462193" y="0"/>
                    <a:pt x="497275" y="35082"/>
                    <a:pt x="497275" y="78358"/>
                  </a:cubicBezTo>
                  <a:lnTo>
                    <a:pt x="497275" y="78358"/>
                  </a:lnTo>
                  <a:cubicBezTo>
                    <a:pt x="497275" y="121634"/>
                    <a:pt x="462193" y="156716"/>
                    <a:pt x="418917" y="156716"/>
                  </a:cubicBezTo>
                  <a:lnTo>
                    <a:pt x="78358" y="156716"/>
                  </a:lnTo>
                  <a:cubicBezTo>
                    <a:pt x="35082" y="156716"/>
                    <a:pt x="0" y="121634"/>
                    <a:pt x="0" y="78358"/>
                  </a:cubicBezTo>
                  <a:lnTo>
                    <a:pt x="0" y="78358"/>
                  </a:lnTo>
                  <a:cubicBezTo>
                    <a:pt x="0" y="35082"/>
                    <a:pt x="35082" y="0"/>
                    <a:pt x="78358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7275" cy="204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-10800000">
            <a:off x="6348558" y="1375803"/>
            <a:ext cx="11930138" cy="8947603"/>
          </a:xfrm>
          <a:custGeom>
            <a:avLst/>
            <a:gdLst/>
            <a:ahLst/>
            <a:cxnLst/>
            <a:rect r="r" b="b" t="t" l="l"/>
            <a:pathLst>
              <a:path h="8947603" w="11930138">
                <a:moveTo>
                  <a:pt x="0" y="0"/>
                </a:moveTo>
                <a:lnTo>
                  <a:pt x="11930137" y="0"/>
                </a:lnTo>
                <a:lnTo>
                  <a:pt x="11930137" y="8947603"/>
                </a:lnTo>
                <a:lnTo>
                  <a:pt x="0" y="894760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449281" y="-266700"/>
            <a:ext cx="10511390" cy="530117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1267"/>
              </a:lnSpc>
              <a:spcBef>
                <a:spcPct val="0"/>
              </a:spcBef>
            </a:pPr>
            <a:r>
              <a:rPr lang="en-US" sz="15190">
                <a:solidFill>
                  <a:srgbClr val="FF3131"/>
                </a:solidFill>
                <a:latin typeface="Extenda 30 Deca"/>
                <a:ea typeface="Extenda 30 Deca"/>
                <a:cs typeface="Extenda 30 Deca"/>
                <a:sym typeface="Extenda 30 Deca"/>
              </a:rPr>
              <a:t>SOFTWARE</a:t>
            </a:r>
          </a:p>
          <a:p>
            <a:pPr algn="l" marL="0" indent="0" lvl="0">
              <a:lnSpc>
                <a:spcPts val="21267"/>
              </a:lnSpc>
              <a:spcBef>
                <a:spcPct val="0"/>
              </a:spcBef>
            </a:pPr>
            <a:r>
              <a:rPr lang="en-US" sz="15190">
                <a:solidFill>
                  <a:srgbClr val="FF3131"/>
                </a:solidFill>
                <a:latin typeface="Extenda 30 Deca"/>
                <a:ea typeface="Extenda 30 Deca"/>
                <a:cs typeface="Extenda 30 Deca"/>
                <a:sym typeface="Extenda 30 Deca"/>
              </a:rPr>
              <a:t>ARCHITEKTUR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449281" y="9393587"/>
            <a:ext cx="2905622" cy="40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7"/>
              </a:lnSpc>
              <a:spcBef>
                <a:spcPct val="0"/>
              </a:spcBef>
            </a:pPr>
            <a:r>
              <a:rPr lang="en-US" b="true" sz="2398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Tim Brutscher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371209" y="9393587"/>
            <a:ext cx="1888091" cy="40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57"/>
              </a:lnSpc>
              <a:spcBef>
                <a:spcPct val="0"/>
              </a:spcBef>
            </a:pPr>
            <a:r>
              <a:rPr lang="en-US" b="true" sz="2398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592965" y="622935"/>
            <a:ext cx="1444579" cy="40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7"/>
              </a:lnSpc>
              <a:spcBef>
                <a:spcPct val="0"/>
              </a:spcBef>
            </a:pPr>
            <a:r>
              <a:rPr lang="en-US" b="true" sz="2398">
                <a:solidFill>
                  <a:srgbClr val="F2EFEB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Slide 01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371209" y="552114"/>
            <a:ext cx="1888091" cy="595031"/>
            <a:chOff x="0" y="0"/>
            <a:chExt cx="497275" cy="1567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7275" cy="156716"/>
            </a:xfrm>
            <a:custGeom>
              <a:avLst/>
              <a:gdLst/>
              <a:ahLst/>
              <a:cxnLst/>
              <a:rect r="r" b="b" t="t" l="l"/>
              <a:pathLst>
                <a:path h="156716" w="497275">
                  <a:moveTo>
                    <a:pt x="78358" y="0"/>
                  </a:moveTo>
                  <a:lnTo>
                    <a:pt x="418917" y="0"/>
                  </a:lnTo>
                  <a:cubicBezTo>
                    <a:pt x="462193" y="0"/>
                    <a:pt x="497275" y="35082"/>
                    <a:pt x="497275" y="78358"/>
                  </a:cubicBezTo>
                  <a:lnTo>
                    <a:pt x="497275" y="78358"/>
                  </a:lnTo>
                  <a:cubicBezTo>
                    <a:pt x="497275" y="121634"/>
                    <a:pt x="462193" y="156716"/>
                    <a:pt x="418917" y="156716"/>
                  </a:cubicBezTo>
                  <a:lnTo>
                    <a:pt x="78358" y="156716"/>
                  </a:lnTo>
                  <a:cubicBezTo>
                    <a:pt x="35082" y="156716"/>
                    <a:pt x="0" y="121634"/>
                    <a:pt x="0" y="78358"/>
                  </a:cubicBezTo>
                  <a:lnTo>
                    <a:pt x="0" y="78358"/>
                  </a:lnTo>
                  <a:cubicBezTo>
                    <a:pt x="0" y="35082"/>
                    <a:pt x="35082" y="0"/>
                    <a:pt x="78358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7275" cy="204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3505798" y="1028700"/>
            <a:ext cx="3942817" cy="8229600"/>
            <a:chOff x="0" y="0"/>
            <a:chExt cx="610845" cy="127498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610846" cy="1274980"/>
            </a:xfrm>
            <a:custGeom>
              <a:avLst/>
              <a:gdLst/>
              <a:ahLst/>
              <a:cxnLst/>
              <a:rect r="r" b="b" t="t" l="l"/>
              <a:pathLst>
                <a:path h="1274980" w="610846">
                  <a:moveTo>
                    <a:pt x="45162" y="0"/>
                  </a:moveTo>
                  <a:lnTo>
                    <a:pt x="565684" y="0"/>
                  </a:lnTo>
                  <a:cubicBezTo>
                    <a:pt x="590626" y="0"/>
                    <a:pt x="610846" y="20220"/>
                    <a:pt x="610846" y="45162"/>
                  </a:cubicBezTo>
                  <a:lnTo>
                    <a:pt x="610846" y="1229819"/>
                  </a:lnTo>
                  <a:cubicBezTo>
                    <a:pt x="610846" y="1254761"/>
                    <a:pt x="590626" y="1274980"/>
                    <a:pt x="565684" y="1274980"/>
                  </a:cubicBezTo>
                  <a:lnTo>
                    <a:pt x="45162" y="1274980"/>
                  </a:lnTo>
                  <a:cubicBezTo>
                    <a:pt x="20220" y="1274980"/>
                    <a:pt x="0" y="1254761"/>
                    <a:pt x="0" y="1229819"/>
                  </a:cubicBezTo>
                  <a:lnTo>
                    <a:pt x="0" y="45162"/>
                  </a:lnTo>
                  <a:cubicBezTo>
                    <a:pt x="0" y="20220"/>
                    <a:pt x="20220" y="0"/>
                    <a:pt x="45162" y="0"/>
                  </a:cubicBezTo>
                  <a:close/>
                </a:path>
              </a:pathLst>
            </a:custGeom>
            <a:blipFill>
              <a:blip r:embed="rId2"/>
              <a:stretch>
                <a:fillRect l="0" t="-299" r="0" b="-299"/>
              </a:stretch>
            </a:blipFill>
          </p:spPr>
        </p:sp>
      </p:grpSp>
      <p:grpSp>
        <p:nvGrpSpPr>
          <p:cNvPr name="Group 7" id="7"/>
          <p:cNvGrpSpPr/>
          <p:nvPr/>
        </p:nvGrpSpPr>
        <p:grpSpPr>
          <a:xfrm rot="0">
            <a:off x="4825430" y="6534609"/>
            <a:ext cx="12433870" cy="2129547"/>
            <a:chOff x="0" y="0"/>
            <a:chExt cx="3274764" cy="560868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274764" cy="560868"/>
            </a:xfrm>
            <a:custGeom>
              <a:avLst/>
              <a:gdLst/>
              <a:ahLst/>
              <a:cxnLst/>
              <a:rect r="r" b="b" t="t" l="l"/>
              <a:pathLst>
                <a:path h="560868" w="3274764">
                  <a:moveTo>
                    <a:pt x="31755" y="0"/>
                  </a:moveTo>
                  <a:lnTo>
                    <a:pt x="3243009" y="0"/>
                  </a:lnTo>
                  <a:cubicBezTo>
                    <a:pt x="3251431" y="0"/>
                    <a:pt x="3259508" y="3346"/>
                    <a:pt x="3265463" y="9301"/>
                  </a:cubicBezTo>
                  <a:cubicBezTo>
                    <a:pt x="3271419" y="15256"/>
                    <a:pt x="3274764" y="23333"/>
                    <a:pt x="3274764" y="31755"/>
                  </a:cubicBezTo>
                  <a:lnTo>
                    <a:pt x="3274764" y="529113"/>
                  </a:lnTo>
                  <a:cubicBezTo>
                    <a:pt x="3274764" y="537535"/>
                    <a:pt x="3271419" y="545612"/>
                    <a:pt x="3265463" y="551567"/>
                  </a:cubicBezTo>
                  <a:cubicBezTo>
                    <a:pt x="3259508" y="557523"/>
                    <a:pt x="3251431" y="560868"/>
                    <a:pt x="3243009" y="560868"/>
                  </a:cubicBezTo>
                  <a:lnTo>
                    <a:pt x="31755" y="560868"/>
                  </a:lnTo>
                  <a:cubicBezTo>
                    <a:pt x="23333" y="560868"/>
                    <a:pt x="15256" y="557523"/>
                    <a:pt x="9301" y="551567"/>
                  </a:cubicBezTo>
                  <a:cubicBezTo>
                    <a:pt x="3346" y="545612"/>
                    <a:pt x="0" y="537535"/>
                    <a:pt x="0" y="529113"/>
                  </a:cubicBezTo>
                  <a:lnTo>
                    <a:pt x="0" y="31755"/>
                  </a:lnTo>
                  <a:cubicBezTo>
                    <a:pt x="0" y="23333"/>
                    <a:pt x="3346" y="15256"/>
                    <a:pt x="9301" y="9301"/>
                  </a:cubicBezTo>
                  <a:cubicBezTo>
                    <a:pt x="15256" y="3346"/>
                    <a:pt x="23333" y="0"/>
                    <a:pt x="31755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3274764" cy="60849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</a:pPr>
            </a:p>
          </p:txBody>
        </p:sp>
      </p:grpSp>
      <p:grpSp>
        <p:nvGrpSpPr>
          <p:cNvPr name="Group 10" id="10"/>
          <p:cNvGrpSpPr/>
          <p:nvPr/>
        </p:nvGrpSpPr>
        <p:grpSpPr>
          <a:xfrm rot="0">
            <a:off x="-606385" y="1028700"/>
            <a:ext cx="3942817" cy="8229600"/>
            <a:chOff x="0" y="0"/>
            <a:chExt cx="610845" cy="1274980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610846" cy="1274980"/>
            </a:xfrm>
            <a:custGeom>
              <a:avLst/>
              <a:gdLst/>
              <a:ahLst/>
              <a:cxnLst/>
              <a:rect r="r" b="b" t="t" l="l"/>
              <a:pathLst>
                <a:path h="1274980" w="610846">
                  <a:moveTo>
                    <a:pt x="45162" y="0"/>
                  </a:moveTo>
                  <a:lnTo>
                    <a:pt x="565684" y="0"/>
                  </a:lnTo>
                  <a:cubicBezTo>
                    <a:pt x="590626" y="0"/>
                    <a:pt x="610846" y="20220"/>
                    <a:pt x="610846" y="45162"/>
                  </a:cubicBezTo>
                  <a:lnTo>
                    <a:pt x="610846" y="1229819"/>
                  </a:lnTo>
                  <a:cubicBezTo>
                    <a:pt x="610846" y="1254761"/>
                    <a:pt x="590626" y="1274980"/>
                    <a:pt x="565684" y="1274980"/>
                  </a:cubicBezTo>
                  <a:lnTo>
                    <a:pt x="45162" y="1274980"/>
                  </a:lnTo>
                  <a:cubicBezTo>
                    <a:pt x="20220" y="1274980"/>
                    <a:pt x="0" y="1254761"/>
                    <a:pt x="0" y="1229819"/>
                  </a:cubicBezTo>
                  <a:lnTo>
                    <a:pt x="0" y="45162"/>
                  </a:lnTo>
                  <a:cubicBezTo>
                    <a:pt x="0" y="20220"/>
                    <a:pt x="20220" y="0"/>
                    <a:pt x="45162" y="0"/>
                  </a:cubicBezTo>
                  <a:close/>
                </a:path>
              </a:pathLst>
            </a:custGeom>
            <a:blipFill>
              <a:blip r:embed="rId3"/>
              <a:stretch>
                <a:fillRect l="0" t="-299" r="0" b="-299"/>
              </a:stretch>
            </a:blipFill>
          </p:spPr>
        </p:sp>
      </p:grpSp>
      <p:sp>
        <p:nvSpPr>
          <p:cNvPr name="TextBox 12" id="12"/>
          <p:cNvSpPr txBox="true"/>
          <p:nvPr/>
        </p:nvSpPr>
        <p:spPr>
          <a:xfrm rot="0">
            <a:off x="7880665" y="2301903"/>
            <a:ext cx="8922122" cy="23695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7199"/>
              </a:lnSpc>
            </a:pPr>
            <a:r>
              <a:rPr lang="en-US" sz="19110">
                <a:solidFill>
                  <a:srgbClr val="FF3131"/>
                </a:solidFill>
                <a:latin typeface="Extenda 30 Deca"/>
                <a:ea typeface="Extenda 30 Deca"/>
                <a:cs typeface="Extenda 30 Deca"/>
                <a:sym typeface="Extenda 30 Deca"/>
              </a:rPr>
              <a:t>PROJEKTÜBERBLICK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447675" y="9391650"/>
            <a:ext cx="291465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Tim Brutscher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5373350" y="9391650"/>
            <a:ext cx="18954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2026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5592965" y="622935"/>
            <a:ext cx="1444579" cy="40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7"/>
              </a:lnSpc>
              <a:spcBef>
                <a:spcPct val="0"/>
              </a:spcBef>
            </a:pPr>
            <a:r>
              <a:rPr lang="en-US" b="true" sz="2398">
                <a:solidFill>
                  <a:srgbClr val="F2EFEB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Slide 02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880665" y="4228289"/>
            <a:ext cx="9378635" cy="1934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7"/>
              </a:lnSpc>
              <a:spcBef>
                <a:spcPct val="0"/>
              </a:spcBef>
            </a:pPr>
            <a:r>
              <a:rPr lang="en-US" b="true" sz="2198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Dieses Projekt umfasst die Entwicklung einer vollständigen Schachsoftware mit Fokus auf modulare Architektur. Ziel ist es, ein erweiterbares und wartbares System zu schaffen, das sowohl Einzelspieler- als auch Mehrspielermodi unterstützt. Die Architektur trennt klar zwischen Spiellogik, Benutzeroberfläche und Netzwerkkommunikation.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5281942" y="6808173"/>
            <a:ext cx="11520846" cy="15443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7"/>
              </a:lnSpc>
              <a:spcBef>
                <a:spcPct val="0"/>
              </a:spcBef>
            </a:pPr>
            <a:r>
              <a:rPr lang="en-US" b="true" sz="2198">
                <a:solidFill>
                  <a:srgbClr val="F2EFEB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Hauptfunktionalitäten: Spielregeln &amp; Zugvalidierung – vollständige Implementierung der Schachregeln. KI-Gegner – intelligenter Computerspieler mit konfigurierbarer Schwierigkeitsstufe. Benutzeroberfläche – intuitive Visualisierung des Spielbretts und der Züge. Netzwerkspiel – Multiplayer-Funktionalität für Online-Partien.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371209" y="552114"/>
            <a:ext cx="1888091" cy="595031"/>
            <a:chOff x="0" y="0"/>
            <a:chExt cx="497275" cy="1567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7275" cy="156716"/>
            </a:xfrm>
            <a:custGeom>
              <a:avLst/>
              <a:gdLst/>
              <a:ahLst/>
              <a:cxnLst/>
              <a:rect r="r" b="b" t="t" l="l"/>
              <a:pathLst>
                <a:path h="156716" w="497275">
                  <a:moveTo>
                    <a:pt x="78358" y="0"/>
                  </a:moveTo>
                  <a:lnTo>
                    <a:pt x="418917" y="0"/>
                  </a:lnTo>
                  <a:cubicBezTo>
                    <a:pt x="462193" y="0"/>
                    <a:pt x="497275" y="35082"/>
                    <a:pt x="497275" y="78358"/>
                  </a:cubicBezTo>
                  <a:lnTo>
                    <a:pt x="497275" y="78358"/>
                  </a:lnTo>
                  <a:cubicBezTo>
                    <a:pt x="497275" y="121634"/>
                    <a:pt x="462193" y="156716"/>
                    <a:pt x="418917" y="156716"/>
                  </a:cubicBezTo>
                  <a:lnTo>
                    <a:pt x="78358" y="156716"/>
                  </a:lnTo>
                  <a:cubicBezTo>
                    <a:pt x="35082" y="156716"/>
                    <a:pt x="0" y="121634"/>
                    <a:pt x="0" y="78358"/>
                  </a:cubicBezTo>
                  <a:lnTo>
                    <a:pt x="0" y="78358"/>
                  </a:lnTo>
                  <a:cubicBezTo>
                    <a:pt x="0" y="35082"/>
                    <a:pt x="35082" y="0"/>
                    <a:pt x="78358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7275" cy="204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704975"/>
            <a:ext cx="5767744" cy="38548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4297"/>
              </a:lnSpc>
            </a:pPr>
            <a:r>
              <a:rPr lang="en-US" sz="17871">
                <a:solidFill>
                  <a:srgbClr val="FF3131"/>
                </a:solidFill>
                <a:latin typeface="Extenda 30 Deca"/>
                <a:ea typeface="Extenda 30 Deca"/>
                <a:cs typeface="Extenda 30 Deca"/>
                <a:sym typeface="Extenda 30 Deca"/>
              </a:rPr>
              <a:t>ARCHITEKTUR-</a:t>
            </a:r>
          </a:p>
          <a:p>
            <a:pPr algn="l" marL="0" indent="0" lvl="0">
              <a:lnSpc>
                <a:spcPts val="14297"/>
              </a:lnSpc>
            </a:pPr>
            <a:r>
              <a:rPr lang="en-US" sz="17871">
                <a:solidFill>
                  <a:srgbClr val="FF3131"/>
                </a:solidFill>
                <a:latin typeface="Extenda 30 Deca"/>
                <a:ea typeface="Extenda 30 Deca"/>
                <a:cs typeface="Extenda 30 Deca"/>
                <a:sym typeface="Extenda 30 Deca"/>
              </a:rPr>
              <a:t>ÜBERSICHT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3322485" y="4343728"/>
            <a:ext cx="11029769" cy="10126027"/>
          </a:xfrm>
          <a:custGeom>
            <a:avLst/>
            <a:gdLst/>
            <a:ahLst/>
            <a:cxnLst/>
            <a:rect r="r" b="b" t="t" l="l"/>
            <a:pathLst>
              <a:path h="10126027" w="11029769">
                <a:moveTo>
                  <a:pt x="0" y="0"/>
                </a:moveTo>
                <a:lnTo>
                  <a:pt x="11029769" y="0"/>
                </a:lnTo>
                <a:lnTo>
                  <a:pt x="11029769" y="10126027"/>
                </a:lnTo>
                <a:lnTo>
                  <a:pt x="0" y="10126027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47675" y="9391650"/>
            <a:ext cx="291465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2EF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Tim Brutscher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373350" y="9391650"/>
            <a:ext cx="18954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592965" y="632460"/>
            <a:ext cx="1444579" cy="38010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199"/>
              </a:lnSpc>
              <a:spcBef>
                <a:spcPct val="0"/>
              </a:spcBef>
            </a:pPr>
            <a:r>
              <a:rPr lang="en-US" b="true" sz="2285">
                <a:solidFill>
                  <a:srgbClr val="F2EFEB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Slide 03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545331" y="2052133"/>
            <a:ext cx="9713969" cy="1108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2"/>
              </a:lnSpc>
              <a:spcBef>
                <a:spcPct val="0"/>
              </a:spcBef>
            </a:pPr>
            <a:r>
              <a:rPr lang="en-US" b="true" sz="2094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Die Software gliedert sich in drei Hauptschichten: UI-Schicht (Darstellung &amp; Interaktion), Logik-Schicht (Spielregeln &amp; KI) und Daten-Schicht (Zustandsverwaltung &amp; Persistenz). Jede Schicht kommuniziert ausschließlich mit der direkt benachbarten Schicht.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545331" y="1598743"/>
            <a:ext cx="7644276" cy="40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7"/>
              </a:lnSpc>
              <a:spcBef>
                <a:spcPct val="0"/>
              </a:spcBef>
            </a:pPr>
            <a:r>
              <a:rPr lang="en-US" b="true" sz="2398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SCHICHTENARCHITEKTUR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545331" y="7858343"/>
            <a:ext cx="9713969" cy="1108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2"/>
              </a:lnSpc>
              <a:spcBef>
                <a:spcPct val="0"/>
              </a:spcBef>
            </a:pPr>
            <a:r>
              <a:rPr lang="en-US" b="true" sz="2094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Das System folgt dem Prinzip der Separation of Concerns sowie dem Single-Responsibility-Prinzip. Modularität und Testbarkeit stehen im Vordergrund, unterstützt durch Unit-Tests für jede Schicht und automatisierte Integrationstests.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545331" y="7404953"/>
            <a:ext cx="7644276" cy="40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7"/>
              </a:lnSpc>
              <a:spcBef>
                <a:spcPct val="0"/>
              </a:spcBef>
            </a:pPr>
            <a:r>
              <a:rPr lang="en-US" b="true" sz="2398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ARCHITEKTURPRINZIPIEN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545331" y="3980180"/>
            <a:ext cx="9713969" cy="1108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2"/>
              </a:lnSpc>
              <a:spcBef>
                <a:spcPct val="0"/>
              </a:spcBef>
            </a:pPr>
            <a:r>
              <a:rPr lang="en-US" b="true" sz="2094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Die Module sind lose gekoppelt und kommunizieren über klar definierte Schnittstellen. Die Schach-Engine, das KI-Modul, die UI-Komponente und das Netzwerkmodul sind voneinander unabhängig austauschbar und testbar.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545331" y="3526790"/>
            <a:ext cx="7644276" cy="40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7"/>
              </a:lnSpc>
              <a:spcBef>
                <a:spcPct val="0"/>
              </a:spcBef>
            </a:pPr>
            <a:r>
              <a:rPr lang="en-US" b="true" sz="2398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MODULSTRUKTUR &amp; BEZIEHUNGEN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545331" y="5919262"/>
            <a:ext cx="9713969" cy="110884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2"/>
              </a:lnSpc>
              <a:spcBef>
                <a:spcPct val="0"/>
              </a:spcBef>
            </a:pPr>
            <a:r>
              <a:rPr lang="en-US" b="true" sz="2094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Eingesetzte Technologien umfassen Java/Python für die Kernlogik, JavaFX oder React für die Benutzeroberfläche sowie REST-API oder WebSockets für die Netzwerkkommunikation. Dependency Injection sorgt für Modularität.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545331" y="5465872"/>
            <a:ext cx="7644276" cy="40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7"/>
              </a:lnSpc>
              <a:spcBef>
                <a:spcPct val="0"/>
              </a:spcBef>
            </a:pPr>
            <a:r>
              <a:rPr lang="en-US" b="true" sz="2398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VERWENDETE TECHNOLOGIEN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371209" y="552114"/>
            <a:ext cx="1888091" cy="595031"/>
            <a:chOff x="0" y="0"/>
            <a:chExt cx="497275" cy="1567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7275" cy="156716"/>
            </a:xfrm>
            <a:custGeom>
              <a:avLst/>
              <a:gdLst/>
              <a:ahLst/>
              <a:cxnLst/>
              <a:rect r="r" b="b" t="t" l="l"/>
              <a:pathLst>
                <a:path h="156716" w="497275">
                  <a:moveTo>
                    <a:pt x="78358" y="0"/>
                  </a:moveTo>
                  <a:lnTo>
                    <a:pt x="418917" y="0"/>
                  </a:lnTo>
                  <a:cubicBezTo>
                    <a:pt x="462193" y="0"/>
                    <a:pt x="497275" y="35082"/>
                    <a:pt x="497275" y="78358"/>
                  </a:cubicBezTo>
                  <a:lnTo>
                    <a:pt x="497275" y="78358"/>
                  </a:lnTo>
                  <a:cubicBezTo>
                    <a:pt x="497275" y="121634"/>
                    <a:pt x="462193" y="156716"/>
                    <a:pt x="418917" y="156716"/>
                  </a:cubicBezTo>
                  <a:lnTo>
                    <a:pt x="78358" y="156716"/>
                  </a:lnTo>
                  <a:cubicBezTo>
                    <a:pt x="35082" y="156716"/>
                    <a:pt x="0" y="121634"/>
                    <a:pt x="0" y="78358"/>
                  </a:cubicBezTo>
                  <a:lnTo>
                    <a:pt x="0" y="78358"/>
                  </a:lnTo>
                  <a:cubicBezTo>
                    <a:pt x="0" y="35082"/>
                    <a:pt x="35082" y="0"/>
                    <a:pt x="78358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7275" cy="204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619250"/>
            <a:ext cx="5767744" cy="50154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625"/>
              </a:lnSpc>
            </a:pPr>
            <a:r>
              <a:rPr lang="en-US" sz="15781">
                <a:solidFill>
                  <a:srgbClr val="FF3131"/>
                </a:solidFill>
                <a:latin typeface="Extenda 30 Deca"/>
                <a:ea typeface="Extenda 30 Deca"/>
                <a:cs typeface="Extenda 30 Deca"/>
                <a:sym typeface="Extenda 30 Deca"/>
              </a:rPr>
              <a:t>KERN-</a:t>
            </a:r>
          </a:p>
          <a:p>
            <a:pPr algn="l" marL="0" indent="0" lvl="0">
              <a:lnSpc>
                <a:spcPts val="12625"/>
              </a:lnSpc>
            </a:pPr>
            <a:r>
              <a:rPr lang="en-US" sz="15781">
                <a:solidFill>
                  <a:srgbClr val="FF3131"/>
                </a:solidFill>
                <a:latin typeface="Extenda 30 Deca"/>
                <a:ea typeface="Extenda 30 Deca"/>
                <a:cs typeface="Extenda 30 Deca"/>
                <a:sym typeface="Extenda 30 Deca"/>
              </a:rPr>
              <a:t>KOMPO-</a:t>
            </a:r>
          </a:p>
          <a:p>
            <a:pPr algn="l" marL="0" indent="0" lvl="0">
              <a:lnSpc>
                <a:spcPts val="12625"/>
              </a:lnSpc>
            </a:pPr>
            <a:r>
              <a:rPr lang="en-US" sz="15781">
                <a:solidFill>
                  <a:srgbClr val="FF3131"/>
                </a:solidFill>
                <a:latin typeface="Extenda 30 Deca"/>
                <a:ea typeface="Extenda 30 Deca"/>
                <a:cs typeface="Extenda 30 Deca"/>
                <a:sym typeface="Extenda 30 Deca"/>
              </a:rPr>
              <a:t>NENTEN</a:t>
            </a:r>
          </a:p>
        </p:txBody>
      </p:sp>
      <p:sp>
        <p:nvSpPr>
          <p:cNvPr name="Freeform 6" id="6"/>
          <p:cNvSpPr/>
          <p:nvPr/>
        </p:nvSpPr>
        <p:spPr>
          <a:xfrm flipH="false" flipV="false" rot="0">
            <a:off x="-4246627" y="4663240"/>
            <a:ext cx="12233733" cy="8961210"/>
          </a:xfrm>
          <a:custGeom>
            <a:avLst/>
            <a:gdLst/>
            <a:ahLst/>
            <a:cxnLst/>
            <a:rect r="r" b="b" t="t" l="l"/>
            <a:pathLst>
              <a:path h="8961210" w="12233733">
                <a:moveTo>
                  <a:pt x="0" y="0"/>
                </a:moveTo>
                <a:lnTo>
                  <a:pt x="12233733" y="0"/>
                </a:lnTo>
                <a:lnTo>
                  <a:pt x="12233733" y="8961209"/>
                </a:lnTo>
                <a:lnTo>
                  <a:pt x="0" y="896120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447675" y="9391650"/>
            <a:ext cx="291465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2EF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Tim Brutscher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373350" y="9391650"/>
            <a:ext cx="18954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2026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5592965" y="622935"/>
            <a:ext cx="1444579" cy="40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7"/>
              </a:lnSpc>
              <a:spcBef>
                <a:spcPct val="0"/>
              </a:spcBef>
            </a:pPr>
            <a:r>
              <a:rPr lang="en-US" b="true" sz="2398">
                <a:solidFill>
                  <a:srgbClr val="F2EFEB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Slide 04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545331" y="2061658"/>
            <a:ext cx="9713969" cy="1153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7"/>
              </a:lnSpc>
              <a:spcBef>
                <a:spcPct val="0"/>
              </a:spcBef>
            </a:pPr>
            <a:r>
              <a:rPr lang="en-US" b="true" sz="2198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Kernmodul zur Regelauswertung und Zugvalidierung. Stellt sicher, dass alle Spielzüge den offiziellen Schachregeln entsprechen und verwaltet den gesamten Spielzustand zuverlässig.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545331" y="1598743"/>
            <a:ext cx="7644276" cy="40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7"/>
              </a:lnSpc>
              <a:spcBef>
                <a:spcPct val="0"/>
              </a:spcBef>
            </a:pPr>
            <a:r>
              <a:rPr lang="en-US" b="true" sz="2398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SCHACH-ENGINE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545331" y="7867868"/>
            <a:ext cx="9713969" cy="1153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7"/>
              </a:lnSpc>
              <a:spcBef>
                <a:spcPct val="0"/>
              </a:spcBef>
            </a:pPr>
            <a:r>
              <a:rPr lang="en-US" b="true" sz="2198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Ermöglicht Multiplayer-Funktionalität über lokale Netzwerke oder das Internet. Verwaltet Verbindungen, Synchronisation des Spielzustands und Kommunikation zwischen Spielern.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545331" y="7404953"/>
            <a:ext cx="7644276" cy="40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7"/>
              </a:lnSpc>
              <a:spcBef>
                <a:spcPct val="0"/>
              </a:spcBef>
            </a:pPr>
            <a:r>
              <a:rPr lang="en-US" b="true" sz="2398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NETZWERKMODUL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545331" y="3989705"/>
            <a:ext cx="9713969" cy="1153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7"/>
              </a:lnSpc>
              <a:spcBef>
                <a:spcPct val="0"/>
              </a:spcBef>
            </a:pPr>
            <a:r>
              <a:rPr lang="en-US" b="true" sz="2198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Verantwortlich für Entscheidungsfindung und Zugwahl des computergesteuerten Gegners. Nutzt Algorithmen wie Minimax mit Alpha-Beta-Pruning für effiziente Zugberechnung.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545331" y="3526790"/>
            <a:ext cx="7644276" cy="40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7"/>
              </a:lnSpc>
              <a:spcBef>
                <a:spcPct val="0"/>
              </a:spcBef>
            </a:pPr>
            <a:r>
              <a:rPr lang="en-US" b="true" sz="2398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KI-MODUL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545331" y="5928787"/>
            <a:ext cx="9713969" cy="11538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7"/>
              </a:lnSpc>
              <a:spcBef>
                <a:spcPct val="0"/>
              </a:spcBef>
            </a:pPr>
            <a:r>
              <a:rPr lang="en-US" b="true" sz="2198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Visualisierung des Schachbretts und aller Spielfiguren sowie Interaktionsschicht für den Benutzer. Ermöglicht intuitive Bedienung, Zugvorschau und Anzeige des Spielverlaufs.</a:t>
            </a:r>
          </a:p>
        </p:txBody>
      </p:sp>
      <p:sp>
        <p:nvSpPr>
          <p:cNvPr name="TextBox 17" id="17"/>
          <p:cNvSpPr txBox="true"/>
          <p:nvPr/>
        </p:nvSpPr>
        <p:spPr>
          <a:xfrm rot="0">
            <a:off x="7545331" y="5465872"/>
            <a:ext cx="7644276" cy="4058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7"/>
              </a:lnSpc>
              <a:spcBef>
                <a:spcPct val="0"/>
              </a:spcBef>
            </a:pPr>
            <a:r>
              <a:rPr lang="en-US" b="true" sz="2398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BENUTZEROBERFLÄCHE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F2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371209" y="552114"/>
            <a:ext cx="1888091" cy="595031"/>
            <a:chOff x="0" y="0"/>
            <a:chExt cx="497275" cy="1567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7275" cy="156716"/>
            </a:xfrm>
            <a:custGeom>
              <a:avLst/>
              <a:gdLst/>
              <a:ahLst/>
              <a:cxnLst/>
              <a:rect r="r" b="b" t="t" l="l"/>
              <a:pathLst>
                <a:path h="156716" w="497275">
                  <a:moveTo>
                    <a:pt x="78358" y="0"/>
                  </a:moveTo>
                  <a:lnTo>
                    <a:pt x="418917" y="0"/>
                  </a:lnTo>
                  <a:cubicBezTo>
                    <a:pt x="462193" y="0"/>
                    <a:pt x="497275" y="35082"/>
                    <a:pt x="497275" y="78358"/>
                  </a:cubicBezTo>
                  <a:lnTo>
                    <a:pt x="497275" y="78358"/>
                  </a:lnTo>
                  <a:cubicBezTo>
                    <a:pt x="497275" y="121634"/>
                    <a:pt x="462193" y="156716"/>
                    <a:pt x="418917" y="156716"/>
                  </a:cubicBezTo>
                  <a:lnTo>
                    <a:pt x="78358" y="156716"/>
                  </a:lnTo>
                  <a:cubicBezTo>
                    <a:pt x="35082" y="156716"/>
                    <a:pt x="0" y="121634"/>
                    <a:pt x="0" y="78358"/>
                  </a:cubicBezTo>
                  <a:lnTo>
                    <a:pt x="0" y="78358"/>
                  </a:lnTo>
                  <a:cubicBezTo>
                    <a:pt x="0" y="35082"/>
                    <a:pt x="35082" y="0"/>
                    <a:pt x="78358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7275" cy="204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619250"/>
            <a:ext cx="5772150" cy="181250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624"/>
              </a:lnSpc>
              <a:spcBef>
                <a:spcPct val="0"/>
              </a:spcBef>
            </a:pPr>
            <a:r>
              <a:rPr lang="en-US" sz="15780" strike="noStrike" u="none">
                <a:solidFill>
                  <a:srgbClr val="FF3131"/>
                </a:solidFill>
                <a:latin typeface="Extenda 30 Deca"/>
                <a:ea typeface="Extenda 30 Deca"/>
                <a:cs typeface="Extenda 30 Deca"/>
                <a:sym typeface="Extenda 30 Deca"/>
              </a:rPr>
              <a:t>WEB-UI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47675" y="9391650"/>
            <a:ext cx="291465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2EF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Tim Brutscher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373350" y="9391650"/>
            <a:ext cx="18954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592425" y="619125"/>
            <a:ext cx="14478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2EFEB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Slide 06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543800" y="2057400"/>
            <a:ext cx="9715500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b="true" sz="2199" strike="noStrike" u="non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Aufbau der Web-Oberfläche mit modernem Frontend-Framework (z.B. React, Vue oder Angular). Responsive Design für Desktop- und Mobilgeräte.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543800" y="1600200"/>
            <a:ext cx="76485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TECHNOLOGIE-STACK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543800" y="7867650"/>
            <a:ext cx="9715500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b="true" sz="2199" strike="noStrike" u="non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Kommunikation mit dem Backend über REST-API und WebSockets für Echtzeit-Updates. Zustandssynchronisation zwischen Client und Server.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543800" y="7400925"/>
            <a:ext cx="76485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API-ANBINDUNG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543800" y="3990975"/>
            <a:ext cx="9715500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b="true" sz="2199" strike="noStrike" u="non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Interaktive Visualisierung des Schachbretts im Browser. Drag-and-Drop für Figuren, Hervorhebung gültiger Züge und Animation der Bewegungen.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543800" y="3524250"/>
            <a:ext cx="76485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SPIELBRETT-DARSTELLUNG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543800" y="5924550"/>
            <a:ext cx="9715500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b="true" sz="2199" strike="noStrike" u="non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Spielerprofile, Spielhistorie, Echtzeit-Chat und Benachrichtigungen. Intuitive Navigation und klare Informationshierarchie.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543800" y="5467350"/>
            <a:ext cx="76485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BENUTZERINTERAKTION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F2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371209" y="552114"/>
            <a:ext cx="1888091" cy="595031"/>
            <a:chOff x="0" y="0"/>
            <a:chExt cx="497275" cy="1567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7275" cy="156716"/>
            </a:xfrm>
            <a:custGeom>
              <a:avLst/>
              <a:gdLst/>
              <a:ahLst/>
              <a:cxnLst/>
              <a:rect r="r" b="b" t="t" l="l"/>
              <a:pathLst>
                <a:path h="156716" w="497275">
                  <a:moveTo>
                    <a:pt x="78358" y="0"/>
                  </a:moveTo>
                  <a:lnTo>
                    <a:pt x="418917" y="0"/>
                  </a:lnTo>
                  <a:cubicBezTo>
                    <a:pt x="462193" y="0"/>
                    <a:pt x="497275" y="35082"/>
                    <a:pt x="497275" y="78358"/>
                  </a:cubicBezTo>
                  <a:lnTo>
                    <a:pt x="497275" y="78358"/>
                  </a:lnTo>
                  <a:cubicBezTo>
                    <a:pt x="497275" y="121634"/>
                    <a:pt x="462193" y="156716"/>
                    <a:pt x="418917" y="156716"/>
                  </a:cubicBezTo>
                  <a:lnTo>
                    <a:pt x="78358" y="156716"/>
                  </a:lnTo>
                  <a:cubicBezTo>
                    <a:pt x="35082" y="156716"/>
                    <a:pt x="0" y="121634"/>
                    <a:pt x="0" y="78358"/>
                  </a:cubicBezTo>
                  <a:lnTo>
                    <a:pt x="0" y="78358"/>
                  </a:lnTo>
                  <a:cubicBezTo>
                    <a:pt x="0" y="35082"/>
                    <a:pt x="35082" y="0"/>
                    <a:pt x="78358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7275" cy="204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028700" y="1619250"/>
            <a:ext cx="5772150" cy="34139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2624"/>
              </a:lnSpc>
              <a:spcBef>
                <a:spcPct val="0"/>
              </a:spcBef>
            </a:pPr>
            <a:r>
              <a:rPr lang="en-US" sz="15780" strike="noStrike" u="none">
                <a:solidFill>
                  <a:srgbClr val="FF3131"/>
                </a:solidFill>
                <a:latin typeface="Extenda 30 Deca"/>
                <a:ea typeface="Extenda 30 Deca"/>
                <a:cs typeface="Extenda 30 Deca"/>
                <a:sym typeface="Extenda 30 Deca"/>
              </a:rPr>
              <a:t>SCHACH-</a:t>
            </a:r>
          </a:p>
          <a:p>
            <a:pPr algn="l" marL="0" indent="0" lvl="0">
              <a:lnSpc>
                <a:spcPts val="12624"/>
              </a:lnSpc>
              <a:spcBef>
                <a:spcPct val="0"/>
              </a:spcBef>
            </a:pPr>
            <a:r>
              <a:rPr lang="en-US" sz="15780" strike="noStrike" u="none">
                <a:solidFill>
                  <a:srgbClr val="FF3131"/>
                </a:solidFill>
                <a:latin typeface="Extenda 30 Deca"/>
                <a:ea typeface="Extenda 30 Deca"/>
                <a:cs typeface="Extenda 30 Deca"/>
                <a:sym typeface="Extenda 30 Deca"/>
              </a:rPr>
              <a:t>BOT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447675" y="9391650"/>
            <a:ext cx="291465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2EF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Tim Brutscher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5373350" y="9391650"/>
            <a:ext cx="18954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2026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5592425" y="619125"/>
            <a:ext cx="1447800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2EFEB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Slide 07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7543800" y="2057400"/>
            <a:ext cx="9715500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b="true" sz="2199" strike="noStrike" u="non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Minimax-Algorithmus mit Alpha-Beta-Pruning als Basis. Iterative Tiefensuche für zeitlich begrenzte Zugberechnung und optimale Spielstärke.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7543800" y="1600200"/>
            <a:ext cx="76485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ALGORITHMEN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7543800" y="7867650"/>
            <a:ext cx="9715500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b="true" sz="2199" strike="noStrike" u="non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Integrierte Datenbank mit gängigen Eröffnungen für schnellere und stärkere Anfangszüge. Erweiterbar durch zusätzliche Eröffnungsvarianten.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7543800" y="7400925"/>
            <a:ext cx="76485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ERÖFFNUNGSBIBLIOTHEK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7543800" y="3990975"/>
            <a:ext cx="9715500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b="true" sz="2199" strike="noStrike" u="non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Positionsbewertung basierend auf Materialwert, Figurenaktivität, Königssicherheit und Bauernstruktur. Konfigurierbare Gewichtung der Parameter.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7543800" y="3524250"/>
            <a:ext cx="76485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BEWERTUNGSFUNKTION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7543800" y="5924550"/>
            <a:ext cx="9715500" cy="76327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079"/>
              </a:lnSpc>
              <a:spcBef>
                <a:spcPct val="0"/>
              </a:spcBef>
            </a:pPr>
            <a:r>
              <a:rPr lang="en-US" b="true" sz="2199" strike="noStrike" u="none">
                <a:solidFill>
                  <a:srgbClr val="000000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Mehrere Spielstärken von Anfänger bis Experte. Steuerung über Suchtiefe, Zeitlimit und zufällige Abweichungen für natürlicheres Spielverhalten.</a:t>
            </a:r>
          </a:p>
        </p:txBody>
      </p:sp>
      <p:sp>
        <p:nvSpPr>
          <p:cNvPr name="TextBox 16" id="16"/>
          <p:cNvSpPr txBox="true"/>
          <p:nvPr/>
        </p:nvSpPr>
        <p:spPr>
          <a:xfrm rot="0">
            <a:off x="7543800" y="5467350"/>
            <a:ext cx="7648575" cy="4057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359"/>
              </a:lnSpc>
              <a:spcBef>
                <a:spcPct val="0"/>
              </a:spcBef>
            </a:pPr>
            <a:r>
              <a:rPr lang="en-US" b="true" sz="2400" strike="noStrike" u="none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SCHWIERIGKEITSSTUFEN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F2EFE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5371209" y="552114"/>
            <a:ext cx="1888091" cy="595031"/>
            <a:chOff x="0" y="0"/>
            <a:chExt cx="497275" cy="15671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97275" cy="156716"/>
            </a:xfrm>
            <a:custGeom>
              <a:avLst/>
              <a:gdLst/>
              <a:ahLst/>
              <a:cxnLst/>
              <a:rect r="r" b="b" t="t" l="l"/>
              <a:pathLst>
                <a:path h="156716" w="497275">
                  <a:moveTo>
                    <a:pt x="78358" y="0"/>
                  </a:moveTo>
                  <a:lnTo>
                    <a:pt x="418917" y="0"/>
                  </a:lnTo>
                  <a:cubicBezTo>
                    <a:pt x="462193" y="0"/>
                    <a:pt x="497275" y="35082"/>
                    <a:pt x="497275" y="78358"/>
                  </a:cubicBezTo>
                  <a:lnTo>
                    <a:pt x="497275" y="78358"/>
                  </a:lnTo>
                  <a:cubicBezTo>
                    <a:pt x="497275" y="121634"/>
                    <a:pt x="462193" y="156716"/>
                    <a:pt x="418917" y="156716"/>
                  </a:cubicBezTo>
                  <a:lnTo>
                    <a:pt x="78358" y="156716"/>
                  </a:lnTo>
                  <a:cubicBezTo>
                    <a:pt x="35082" y="156716"/>
                    <a:pt x="0" y="121634"/>
                    <a:pt x="0" y="78358"/>
                  </a:cubicBezTo>
                  <a:lnTo>
                    <a:pt x="0" y="78358"/>
                  </a:lnTo>
                  <a:cubicBezTo>
                    <a:pt x="0" y="35082"/>
                    <a:pt x="35082" y="0"/>
                    <a:pt x="78358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47625"/>
              <a:ext cx="497275" cy="2043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9434422" y="2137780"/>
            <a:ext cx="6880833" cy="15666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11382"/>
              </a:lnSpc>
            </a:pPr>
            <a:r>
              <a:rPr lang="en-US" sz="12647">
                <a:solidFill>
                  <a:srgbClr val="FF3131"/>
                </a:solidFill>
                <a:latin typeface="Extenda 30 Deca"/>
                <a:ea typeface="Extenda 30 Deca"/>
                <a:cs typeface="Extenda 30 Deca"/>
                <a:sym typeface="Extenda 30 Deca"/>
              </a:rPr>
              <a:t>AUSBLICK &amp; ABSCHLUSS</a:t>
            </a:r>
          </a:p>
        </p:txBody>
      </p:sp>
      <p:grpSp>
        <p:nvGrpSpPr>
          <p:cNvPr name="Group 6" id="6"/>
          <p:cNvGrpSpPr/>
          <p:nvPr/>
        </p:nvGrpSpPr>
        <p:grpSpPr>
          <a:xfrm rot="0">
            <a:off x="9434422" y="4549680"/>
            <a:ext cx="7824878" cy="4432395"/>
            <a:chOff x="0" y="0"/>
            <a:chExt cx="2060873" cy="116738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060873" cy="1167380"/>
            </a:xfrm>
            <a:custGeom>
              <a:avLst/>
              <a:gdLst/>
              <a:ahLst/>
              <a:cxnLst/>
              <a:rect r="r" b="b" t="t" l="l"/>
              <a:pathLst>
                <a:path h="1167380" w="2060873">
                  <a:moveTo>
                    <a:pt x="50459" y="0"/>
                  </a:moveTo>
                  <a:lnTo>
                    <a:pt x="2010414" y="0"/>
                  </a:lnTo>
                  <a:cubicBezTo>
                    <a:pt x="2038282" y="0"/>
                    <a:pt x="2060873" y="22591"/>
                    <a:pt x="2060873" y="50459"/>
                  </a:cubicBezTo>
                  <a:lnTo>
                    <a:pt x="2060873" y="1116920"/>
                  </a:lnTo>
                  <a:cubicBezTo>
                    <a:pt x="2060873" y="1144788"/>
                    <a:pt x="2038282" y="1167380"/>
                    <a:pt x="2010414" y="1167380"/>
                  </a:cubicBezTo>
                  <a:lnTo>
                    <a:pt x="50459" y="1167380"/>
                  </a:lnTo>
                  <a:cubicBezTo>
                    <a:pt x="22591" y="1167380"/>
                    <a:pt x="0" y="1144788"/>
                    <a:pt x="0" y="1116920"/>
                  </a:cubicBezTo>
                  <a:lnTo>
                    <a:pt x="0" y="50459"/>
                  </a:lnTo>
                  <a:cubicBezTo>
                    <a:pt x="0" y="22591"/>
                    <a:pt x="22591" y="0"/>
                    <a:pt x="50459" y="0"/>
                  </a:cubicBezTo>
                  <a:close/>
                </a:path>
              </a:pathLst>
            </a:custGeom>
            <a:solidFill>
              <a:srgbClr val="FF3131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2060873" cy="12150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 marL="0" indent="0" lvl="0">
                <a:lnSpc>
                  <a:spcPts val="3359"/>
                </a:lnSpc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142086">
            <a:off x="-2618579" y="406381"/>
            <a:ext cx="11638157" cy="11347203"/>
          </a:xfrm>
          <a:custGeom>
            <a:avLst/>
            <a:gdLst/>
            <a:ahLst/>
            <a:cxnLst/>
            <a:rect r="r" b="b" t="t" l="l"/>
            <a:pathLst>
              <a:path h="11347203" w="11638157">
                <a:moveTo>
                  <a:pt x="0" y="0"/>
                </a:moveTo>
                <a:lnTo>
                  <a:pt x="11638157" y="0"/>
                </a:lnTo>
                <a:lnTo>
                  <a:pt x="11638157" y="11347203"/>
                </a:lnTo>
                <a:lnTo>
                  <a:pt x="0" y="11347203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447675" y="9401175"/>
            <a:ext cx="2914650" cy="249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15"/>
              </a:lnSpc>
              <a:spcBef>
                <a:spcPct val="0"/>
              </a:spcBef>
            </a:pPr>
            <a:r>
              <a:rPr lang="en-US" b="true" sz="1439" strike="noStrike" u="none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Tim Brutscher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5373350" y="9401175"/>
            <a:ext cx="1895475" cy="2491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2015"/>
              </a:lnSpc>
              <a:spcBef>
                <a:spcPct val="0"/>
              </a:spcBef>
            </a:pPr>
            <a:r>
              <a:rPr lang="en-US" b="true" sz="1439" strike="noStrike" u="none">
                <a:solidFill>
                  <a:srgbClr val="FF3131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2026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5592965" y="632460"/>
            <a:ext cx="1444579" cy="2490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 marL="0" indent="0" lvl="0">
              <a:lnSpc>
                <a:spcPts val="2020"/>
              </a:lnSpc>
              <a:spcBef>
                <a:spcPct val="0"/>
              </a:spcBef>
            </a:pPr>
            <a:r>
              <a:rPr lang="en-US" b="true" sz="1443">
                <a:solidFill>
                  <a:srgbClr val="F2EFEB"/>
                </a:solidFill>
                <a:latin typeface="Neue Montreal Medium"/>
                <a:ea typeface="Neue Montreal Medium"/>
                <a:cs typeface="Neue Montreal Medium"/>
                <a:sym typeface="Neue Montreal Medium"/>
              </a:rPr>
              <a:t>Folie 5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9948965" y="4988187"/>
            <a:ext cx="584893" cy="584893"/>
          </a:xfrm>
          <a:custGeom>
            <a:avLst/>
            <a:gdLst/>
            <a:ahLst/>
            <a:cxnLst/>
            <a:rect r="r" b="b" t="t" l="l"/>
            <a:pathLst>
              <a:path h="584893" w="584893">
                <a:moveTo>
                  <a:pt x="0" y="0"/>
                </a:moveTo>
                <a:lnTo>
                  <a:pt x="584894" y="0"/>
                </a:lnTo>
                <a:lnTo>
                  <a:pt x="584894" y="584893"/>
                </a:lnTo>
                <a:lnTo>
                  <a:pt x="0" y="584893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9948965" y="5936592"/>
            <a:ext cx="584893" cy="584893"/>
          </a:xfrm>
          <a:custGeom>
            <a:avLst/>
            <a:gdLst/>
            <a:ahLst/>
            <a:cxnLst/>
            <a:rect r="r" b="b" t="t" l="l"/>
            <a:pathLst>
              <a:path h="584893" w="584893">
                <a:moveTo>
                  <a:pt x="0" y="0"/>
                </a:moveTo>
                <a:lnTo>
                  <a:pt x="584894" y="0"/>
                </a:lnTo>
                <a:lnTo>
                  <a:pt x="584894" y="584893"/>
                </a:lnTo>
                <a:lnTo>
                  <a:pt x="0" y="58489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9948965" y="6940585"/>
            <a:ext cx="584893" cy="584893"/>
          </a:xfrm>
          <a:custGeom>
            <a:avLst/>
            <a:gdLst/>
            <a:ahLst/>
            <a:cxnLst/>
            <a:rect r="r" b="b" t="t" l="l"/>
            <a:pathLst>
              <a:path h="584893" w="584893">
                <a:moveTo>
                  <a:pt x="0" y="0"/>
                </a:moveTo>
                <a:lnTo>
                  <a:pt x="584894" y="0"/>
                </a:lnTo>
                <a:lnTo>
                  <a:pt x="584894" y="584893"/>
                </a:lnTo>
                <a:lnTo>
                  <a:pt x="0" y="58489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9948965" y="7944578"/>
            <a:ext cx="584893" cy="584893"/>
          </a:xfrm>
          <a:custGeom>
            <a:avLst/>
            <a:gdLst/>
            <a:ahLst/>
            <a:cxnLst/>
            <a:rect r="r" b="b" t="t" l="l"/>
            <a:pathLst>
              <a:path h="584893" w="584893">
                <a:moveTo>
                  <a:pt x="0" y="0"/>
                </a:moveTo>
                <a:lnTo>
                  <a:pt x="584894" y="0"/>
                </a:lnTo>
                <a:lnTo>
                  <a:pt x="584894" y="584894"/>
                </a:lnTo>
                <a:lnTo>
                  <a:pt x="0" y="58489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7" id="17"/>
          <p:cNvSpPr txBox="true"/>
          <p:nvPr/>
        </p:nvSpPr>
        <p:spPr>
          <a:xfrm rot="0">
            <a:off x="10911384" y="5028699"/>
            <a:ext cx="3800550" cy="302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08"/>
              </a:lnSpc>
              <a:spcBef>
                <a:spcPct val="0"/>
              </a:spcBef>
            </a:pPr>
            <a:r>
              <a:rPr lang="en-US" b="true" sz="1866" spc="56">
                <a:solidFill>
                  <a:srgbClr val="F2EF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Python &amp; modulare Architektur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0911384" y="5977104"/>
            <a:ext cx="5029054" cy="302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08"/>
              </a:lnSpc>
              <a:spcBef>
                <a:spcPct val="0"/>
              </a:spcBef>
            </a:pPr>
            <a:r>
              <a:rPr lang="en-US" b="true" sz="1866" spc="56">
                <a:solidFill>
                  <a:srgbClr val="F2EF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KI-Erweiterung &amp; UI-Verbesserung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0911384" y="6981097"/>
            <a:ext cx="5029054" cy="302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08"/>
              </a:lnSpc>
              <a:spcBef>
                <a:spcPct val="0"/>
              </a:spcBef>
            </a:pPr>
            <a:r>
              <a:rPr lang="en-US" b="true" sz="1866" spc="56">
                <a:solidFill>
                  <a:srgbClr val="F2EF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Testbarkeit &amp; weitere Spielmodi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10911384" y="7985091"/>
            <a:ext cx="5571223" cy="3025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408"/>
              </a:lnSpc>
              <a:spcBef>
                <a:spcPct val="0"/>
              </a:spcBef>
            </a:pPr>
            <a:r>
              <a:rPr lang="en-US" b="true" sz="1866" spc="56">
                <a:solidFill>
                  <a:srgbClr val="F2EFEB"/>
                </a:solidFill>
                <a:latin typeface="Neue Montreal Bold"/>
                <a:ea typeface="Neue Montreal Bold"/>
                <a:cs typeface="Neue Montreal Bold"/>
                <a:sym typeface="Neue Montreal Bold"/>
              </a:rPr>
              <a:t>Danke! Fragen sind willkommen.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DAHODTeXJhE</dc:identifier>
  <dcterms:modified xsi:type="dcterms:W3CDTF">2011-08-01T06:04:30Z</dcterms:modified>
  <cp:revision>1</cp:revision>
  <dc:title>Präsentation: Softwarearchitektur Schach</dc:title>
</cp:coreProperties>
</file>